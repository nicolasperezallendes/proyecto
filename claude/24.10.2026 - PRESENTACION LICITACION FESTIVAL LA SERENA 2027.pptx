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Análisis de las bases administrativas, las especificaciones técnicas y los formatos aprobados por el Decreto N° 3207 del 21-10-2026. Es un análisis técnico y no reemplaza un informe jurídico.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alcaldesa Daniela Norambuena anunció el regreso del festival a fines de septiembre de 2026 (Mi Radio, 28-09-2026). Las fechas y montos vienen de los puntos 4 y 5 de las bases. Foto: Rjcastillo,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Especificaciones técnicas, puntos 4 a 7 y 10 a 16. Todos los mínimos son obligatorios: si el Formato 8 omite una línea, la oferta queda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EETT 2, 3, 4.1 y 5. Formato 8. Foto: Arturo Rinaldi Villegas, Wikimedia Commons,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Quien no tiene experiencia en TV parte 30 puntos abajo y no los recupera con precio, que como máximo aporta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Fechas estimadas con días hábiles, sin el 25-12 ni el 01-01 (bases 5, 19, 20 y 21; EETT 3 y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 de Mi Radio, 28-09-2026, al anunciar el envío de la propuesta al Concejo Municipal. Foto: Rjcastillo,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12.2, 13 b) y c); EETT 4.1.4 y 13. Nivel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EETT 4.1 y 8.3; Formato 8. Stage Servicios coordinó la RF del Festival de Viña (Panorama Audiovisual, 09-10-2025). Foto: Rjcastillo,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Ficha de Mercado Público; bases 12.2, 13 b), 22, 25 y 33 l); Formato 9; EETT 4.1.1, 4.1.4, 6 y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EETT 14 y 15. Bases 2.1, 12.1, 13 h) y l), 17 y 19. Ejemplos de errores: catering de 120 o 70 personas, «concesionario», visita a terreno inexistente en el Formato 2. Foto: Arturo Rinaldi Villegas, Wikimedia Commons,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18, 30, 31 y 32. Reclamos según la ficha de Mercado Público, consultada el 24-10-2026. Foto: Rjcastillo,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5, 14, 15, 16 y 17; decreto, punto 7 (comisión: Administrador Municipal, directora de Dideco y director de Turismo y Patrimonio).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niveles de alerta son un juicio técnico de lectura de las bases. No acreditan una irregularidad ni la intención de favorecer a alguien. Foto: Rjcastillo, Wikimedia Commons,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Decreto N° 3207 (21-10-2026), especificaciones técnicas firmadas, Formatos 1 a 10, ficha 4295-91-LP26 en Mercado Público, Mi Radio (28-09 y 24-10-2026) y Panorama Audiovisual (09-10-2025). Fotos de Wikimedia Commons: Rjcastillo (CC BY-SA 4.0) y Arturo Rinaldi Villegas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E1B3A"/>
        </a:solidFill>
      </p:bgPr>
    </p:bg>
    <p:spTree>
      <p:nvGrpSpPr>
        <p:cNvPr id="1" name=""/>
        <p:cNvGrpSpPr/>
        <p:nvPr/>
      </p:nvGrpSpPr>
      <p:grpSpPr>
        <a:xfrm>
          <a:off x="0" y="0"/>
          <a:ext cx="0" cy="0"/>
          <a:chOff x="0" y="0"/>
          <a:chExt cx="0" cy="0"/>
        </a:xfrm>
      </p:grpSpPr>
      <p:sp>
        <p:nvSpPr>
          <p:cNvPr id="2" name="Text 0"/>
          <p:cNvSpPr txBox="1"/>
          <p:nvPr/>
        </p:nvSpPr>
        <p:spPr>
          <a:xfrm>
            <a:off x="812800" y="609600"/>
            <a:ext cx="8890000" cy="317500"/>
          </a:xfrm>
          <a:prstGeom prst="rect">
            <a:avLst/>
          </a:prstGeom>
          <a:noFill/>
          <a:ln/>
        </p:spPr>
        <p:txBody>
          <a:bodyPr wrap="square" lIns="0" tIns="0" rIns="0" bIns="0" rtlCol="0" anchor="t"/>
          <a:lstStyle/>
          <a:p>
            <a:pPr indent="0" marL="0">
              <a:buNone/>
            </a:pPr>
            <a:r>
              <a:rPr lang="en-US" sz="1600" b="1" dirty="0">
                <a:solidFill>
                  <a:srgbClr val="FAF7F5"/>
                </a:solidFill>
                <a:latin typeface="Arial" pitchFamily="34" charset="0"/>
                <a:ea typeface="Arial" pitchFamily="34" charset="-122"/>
                <a:cs typeface="Arial" pitchFamily="34" charset="-120"/>
              </a:rPr>
              <a:t>Municipalidad de La Serena</a:t>
            </a:r>
            <a:pPr indent="0" marL="0">
              <a:buNone/>
            </a:pPr>
            <a:r>
              <a:rPr lang="en-US" sz="1600" dirty="0">
                <a:solidFill>
                  <a:srgbClr val="FAF7F5"/>
                </a:solidFill>
                <a:latin typeface="Arial" pitchFamily="34" charset="0"/>
                <a:ea typeface="Arial" pitchFamily="34" charset="-122"/>
                <a:cs typeface="Arial" pitchFamily="34" charset="-120"/>
              </a:rPr>
              <a:t> · Licitación 4295-91-LP26</a:t>
            </a:r>
            <a:endParaRPr lang="en-US" sz="1600" dirty="0"/>
          </a:p>
        </p:txBody>
      </p:sp>
      <p:sp>
        <p:nvSpPr>
          <p:cNvPr id="3" name="Text 1"/>
          <p:cNvSpPr txBox="1"/>
          <p:nvPr/>
        </p:nvSpPr>
        <p:spPr>
          <a:xfrm>
            <a:off x="812800" y="2095500"/>
            <a:ext cx="10566400" cy="1841500"/>
          </a:xfrm>
          <a:prstGeom prst="rect">
            <a:avLst/>
          </a:prstGeom>
          <a:noFill/>
          <a:ln/>
        </p:spPr>
        <p:txBody>
          <a:bodyPr wrap="square" lIns="0" tIns="0" rIns="0" bIns="0" rtlCol="0" anchor="b"/>
          <a:lstStyle/>
          <a:p>
            <a:pPr indent="0" marL="0">
              <a:lnSpc>
                <a:spcPct val="95000"/>
              </a:lnSpc>
              <a:buNone/>
            </a:pPr>
            <a:r>
              <a:rPr lang="en-US" sz="6400" b="1" dirty="0">
                <a:solidFill>
                  <a:srgbClr val="FAF7F5"/>
                </a:solidFill>
                <a:latin typeface="Arial" pitchFamily="34" charset="0"/>
                <a:ea typeface="Arial" pitchFamily="34" charset="-122"/>
                <a:cs typeface="Arial" pitchFamily="34" charset="-120"/>
              </a:rPr>
              <a:t>Festival de</a:t>
            </a:r>
            <a:endParaRPr lang="en-US" sz="6400" dirty="0"/>
          </a:p>
          <a:p>
            <a:pPr indent="0" marL="0">
              <a:lnSpc>
                <a:spcPct val="95000"/>
              </a:lnSpc>
              <a:buNone/>
            </a:pPr>
            <a:r>
              <a:rPr lang="en-US" sz="6400" b="1" dirty="0">
                <a:solidFill>
                  <a:srgbClr val="FAF7F5"/>
                </a:solidFill>
                <a:latin typeface="Arial" pitchFamily="34" charset="0"/>
                <a:ea typeface="Arial" pitchFamily="34" charset="-122"/>
                <a:cs typeface="Arial" pitchFamily="34" charset="-120"/>
              </a:rPr>
              <a:t>La Serena 2027</a:t>
            </a:r>
            <a:endParaRPr lang="en-US" sz="6400" dirty="0"/>
          </a:p>
        </p:txBody>
      </p:sp>
      <p:sp>
        <p:nvSpPr>
          <p:cNvPr id="4" name="Shape 2"/>
          <p:cNvSpPr/>
          <p:nvPr/>
        </p:nvSpPr>
        <p:spPr>
          <a:xfrm>
            <a:off x="635000" y="4064000"/>
            <a:ext cx="8093456" cy="1079500"/>
          </a:xfrm>
          <a:prstGeom prst="rect">
            <a:avLst/>
          </a:prstGeom>
          <a:solidFill>
            <a:srgbClr val="FAF7F5"/>
          </a:solidFill>
          <a:ln w="12700">
            <a:solidFill>
              <a:srgbClr val="FAF7F5"/>
            </a:solidFill>
            <a:prstDash val="solid"/>
          </a:ln>
        </p:spPr>
      </p:sp>
      <p:sp>
        <p:nvSpPr>
          <p:cNvPr id="5" name="Text 3"/>
          <p:cNvSpPr txBox="1"/>
          <p:nvPr/>
        </p:nvSpPr>
        <p:spPr>
          <a:xfrm>
            <a:off x="812800" y="4064000"/>
            <a:ext cx="7915656" cy="1016000"/>
          </a:xfrm>
          <a:prstGeom prst="rect">
            <a:avLst/>
          </a:prstGeom>
          <a:noFill/>
          <a:ln/>
        </p:spPr>
        <p:txBody>
          <a:bodyPr wrap="square" lIns="0" tIns="0" rIns="0" bIns="0" rtlCol="0" anchor="ctr"/>
          <a:lstStyle/>
          <a:p>
            <a:pPr indent="0" marL="0">
              <a:buNone/>
            </a:pPr>
            <a:r>
              <a:rPr lang="en-US" sz="6400" b="1" dirty="0">
                <a:solidFill>
                  <a:srgbClr val="1A1214"/>
                </a:solidFill>
                <a:latin typeface="Arial" pitchFamily="34" charset="0"/>
                <a:ea typeface="Arial" pitchFamily="34" charset="-122"/>
                <a:cs typeface="Arial" pitchFamily="34" charset="-120"/>
              </a:rPr>
              <a:t>Análisis de bases</a:t>
            </a:r>
            <a:endParaRPr lang="en-US" sz="6400" dirty="0"/>
          </a:p>
        </p:txBody>
      </p:sp>
      <p:sp>
        <p:nvSpPr>
          <p:cNvPr id="6" name="Shape 4"/>
          <p:cNvSpPr/>
          <p:nvPr/>
        </p:nvSpPr>
        <p:spPr>
          <a:xfrm>
            <a:off x="812800" y="6045200"/>
            <a:ext cx="19050" cy="812800"/>
          </a:xfrm>
          <a:prstGeom prst="rect">
            <a:avLst/>
          </a:prstGeom>
          <a:solidFill>
            <a:srgbClr val="FAF7F5"/>
          </a:solidFill>
          <a:ln w="12700">
            <a:solidFill>
              <a:srgbClr val="FAF7F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609600"/>
            <a:ext cx="4419600" cy="726440"/>
          </a:xfrm>
          <a:prstGeom prst="rect">
            <a:avLst/>
          </a:prstGeom>
          <a:solidFill>
            <a:srgbClr val="8E1B3A"/>
          </a:solidFill>
          <a:ln w="12700">
            <a:solidFill>
              <a:srgbClr val="8E1B3A"/>
            </a:solidFill>
            <a:prstDash val="solid"/>
          </a:ln>
        </p:spPr>
      </p:sp>
      <p:sp>
        <p:nvSpPr>
          <p:cNvPr id="3" name="Text 1"/>
          <p:cNvSpPr txBox="1"/>
          <p:nvPr/>
        </p:nvSpPr>
        <p:spPr>
          <a:xfrm>
            <a:off x="812800" y="609600"/>
            <a:ext cx="360680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El llamado</a:t>
            </a:r>
            <a:endParaRPr lang="en-US" sz="4400" dirty="0"/>
          </a:p>
        </p:txBody>
      </p:sp>
      <p:pic>
        <p:nvPicPr>
          <p:cNvPr id="4" name="Image 0" descr="/tmp/claude-0/-home-user-PROYECTO/07a0451d-e16b-572f-ac98-458a87904e89/scratchpad/ppt/img/bn1.jpg">    </p:cNvPr>
          <p:cNvPicPr>
            <a:picLocks noChangeAspect="1"/>
          </p:cNvPicPr>
          <p:nvPr/>
        </p:nvPicPr>
        <p:blipFill>
          <a:blip r:embed="rId1"/>
          <a:srcRect l="0" r="0" t="0" b="0"/>
          <a:stretch/>
        </p:blipFill>
        <p:spPr>
          <a:xfrm>
            <a:off x="0" y="1625600"/>
            <a:ext cx="3937000" cy="2413000"/>
          </a:xfrm>
          <a:prstGeom prst="rect">
            <a:avLst/>
          </a:prstGeom>
        </p:spPr>
      </p:pic>
      <p:sp>
        <p:nvSpPr>
          <p:cNvPr id="5" name="Text 2"/>
          <p:cNvSpPr txBox="1"/>
          <p:nvPr/>
        </p:nvSpPr>
        <p:spPr>
          <a:xfrm>
            <a:off x="4368800" y="1625600"/>
            <a:ext cx="6350000" cy="2540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La Serena vuelve a tener festival tras siete años. El municipio licita la producción y la transmisión por $200 millones, con un tope de $260 millones.</a:t>
            </a:r>
            <a:endParaRPr lang="en-US" sz="2000" dirty="0"/>
          </a:p>
        </p:txBody>
      </p:sp>
      <p:sp>
        <p:nvSpPr>
          <p:cNvPr id="6" name="Text 3"/>
          <p:cNvSpPr txBox="1"/>
          <p:nvPr/>
        </p:nvSpPr>
        <p:spPr>
          <a:xfrm>
            <a:off x="1524000" y="4381500"/>
            <a:ext cx="4343400" cy="1460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Dos jornadas, el viernes 8 y el sábado 9 de enero de 2027, en la arena del sector sur del Faro Monumental. Se paga con recursos municipales.</a:t>
            </a:r>
            <a:endParaRPr lang="en-US" sz="1400" dirty="0"/>
          </a:p>
        </p:txBody>
      </p:sp>
      <p:sp>
        <p:nvSpPr>
          <p:cNvPr id="7" name="Text 4"/>
          <p:cNvSpPr txBox="1"/>
          <p:nvPr/>
        </p:nvSpPr>
        <p:spPr>
          <a:xfrm>
            <a:off x="6324600" y="4381500"/>
            <a:ext cx="4343400" cy="1460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Las ofertas se reciben hasta el martes 10-11 a las 10:00. La adjudicación está prevista para el jueves 10-12 y requiere acuerdo del Concejo.</a:t>
            </a:r>
            <a:endParaRPr lang="en-US" sz="1400" dirty="0"/>
          </a:p>
        </p:txBody>
      </p:sp>
      <p:sp>
        <p:nvSpPr>
          <p:cNvPr id="8" name="Text 5"/>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2</a:t>
            </a:r>
            <a:endParaRPr lang="en-US" sz="1200" dirty="0"/>
          </a:p>
        </p:txBody>
      </p:sp>
      <p:sp>
        <p:nvSpPr>
          <p:cNvPr id="9" name="Shape 6"/>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457200"/>
            <a:ext cx="3078480" cy="726440"/>
          </a:xfrm>
          <a:prstGeom prst="rect">
            <a:avLst/>
          </a:prstGeom>
          <a:solidFill>
            <a:srgbClr val="8E1B3A"/>
          </a:solidFill>
          <a:ln w="12700">
            <a:solidFill>
              <a:srgbClr val="8E1B3A"/>
            </a:solidFill>
            <a:prstDash val="solid"/>
          </a:ln>
        </p:spPr>
      </p:sp>
      <p:sp>
        <p:nvSpPr>
          <p:cNvPr id="3" name="Text 1"/>
          <p:cNvSpPr txBox="1"/>
          <p:nvPr/>
        </p:nvSpPr>
        <p:spPr>
          <a:xfrm>
            <a:off x="812800" y="457200"/>
            <a:ext cx="226568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Eje 1:</a:t>
            </a:r>
            <a:endParaRPr lang="en-US" sz="4400" dirty="0"/>
          </a:p>
        </p:txBody>
      </p:sp>
      <p:sp>
        <p:nvSpPr>
          <p:cNvPr id="4" name="Text 2"/>
          <p:cNvSpPr txBox="1"/>
          <p:nvPr/>
        </p:nvSpPr>
        <p:spPr>
          <a:xfrm>
            <a:off x="812800" y="1498600"/>
            <a:ext cx="10566400" cy="952500"/>
          </a:xfrm>
          <a:prstGeom prst="rect">
            <a:avLst/>
          </a:prstGeom>
          <a:noFill/>
          <a:ln/>
        </p:spPr>
        <p:txBody>
          <a:bodyPr wrap="square" lIns="0" tIns="0" rIns="0" bIns="0" rtlCol="0" anchor="t"/>
          <a:lstStyle/>
          <a:p>
            <a:pPr indent="0" marL="0">
              <a:buNone/>
            </a:pPr>
            <a:r>
              <a:rPr lang="en-US" sz="6400" b="1" dirty="0">
                <a:solidFill>
                  <a:srgbClr val="1A1214"/>
                </a:solidFill>
                <a:latin typeface="Arial" pitchFamily="34" charset="0"/>
                <a:ea typeface="Arial" pitchFamily="34" charset="-122"/>
                <a:cs typeface="Arial" pitchFamily="34" charset="-120"/>
              </a:rPr>
              <a:t>Lo que se exige</a:t>
            </a:r>
            <a:endParaRPr lang="en-US" sz="6400" dirty="0"/>
          </a:p>
        </p:txBody>
      </p:sp>
      <p:sp>
        <p:nvSpPr>
          <p:cNvPr id="5" name="Text 3"/>
          <p:cNvSpPr txBox="1"/>
          <p:nvPr/>
        </p:nvSpPr>
        <p:spPr>
          <a:xfrm>
            <a:off x="1524000" y="2667000"/>
            <a:ext cx="8255000" cy="1397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Es una producción completa a suma alzada: artistas, escenario, sonido, luces, pantallas, seguridad y transmisión por TV abierta van en un solo precio.</a:t>
            </a:r>
            <a:endParaRPr lang="en-US" sz="2000" dirty="0"/>
          </a:p>
        </p:txBody>
      </p:sp>
      <p:sp>
        <p:nvSpPr>
          <p:cNvPr id="6" name="Text 4"/>
          <p:cNvSpPr txBox="1"/>
          <p:nvPr/>
        </p:nvSpPr>
        <p:spPr>
          <a:xfrm>
            <a:off x="15240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Por jornada: un artista local, una obertura y un DJ. Para el festival: dos artistas tropical, balada o urbano, o un humorista, y dos animadores nacionales.</a:t>
            </a:r>
            <a:endParaRPr lang="en-US" sz="1400" dirty="0"/>
          </a:p>
        </p:txBody>
      </p:sp>
      <p:sp>
        <p:nvSpPr>
          <p:cNvPr id="7" name="Text 5"/>
          <p:cNvSpPr txBox="1"/>
          <p:nvPr/>
        </p:nvSpPr>
        <p:spPr>
          <a:xfrm>
            <a:off x="61976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Escenario de 12,85 x 10,28 m, pantalla LED de 100 m², 10 cámaras, enlace satelital, 40 baños químicos y póliza de 3.000 UF.</a:t>
            </a:r>
            <a:endParaRPr lang="en-US" sz="1400" dirty="0"/>
          </a:p>
        </p:txBody>
      </p:sp>
      <p:sp>
        <p:nvSpPr>
          <p:cNvPr id="8" name="Text 6"/>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3</a:t>
            </a:r>
            <a:endParaRPr lang="en-US" sz="1200" dirty="0"/>
          </a:p>
        </p:txBody>
      </p:sp>
      <p:sp>
        <p:nvSpPr>
          <p:cNvPr id="9" name="Shape 7"/>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5"/>
        </a:solidFill>
      </p:bgPr>
    </p:bg>
    <p:spTree>
      <p:nvGrpSpPr>
        <p:cNvPr id="1" name=""/>
        <p:cNvGrpSpPr/>
        <p:nvPr/>
      </p:nvGrpSpPr>
      <p:grpSpPr>
        <a:xfrm>
          <a:off x="0" y="0"/>
          <a:ext cx="0" cy="0"/>
          <a:chOff x="0" y="0"/>
          <a:chExt cx="0" cy="0"/>
        </a:xfrm>
      </p:grpSpPr>
      <p:pic>
        <p:nvPicPr>
          <p:cNvPr id="2" name="Image 0" descr="/tmp/claude-0/-home-user-PROYECTO/07a0451d-e16b-572f-ac98-458a87904e89/scratchpad/ppt/img/bn2.jpg">    </p:cNvPr>
          <p:cNvPicPr>
            <a:picLocks noChangeAspect="1"/>
          </p:cNvPicPr>
          <p:nvPr/>
        </p:nvPicPr>
        <p:blipFill>
          <a:blip r:embed="rId1"/>
          <a:srcRect l="0" r="0" t="0" b="0"/>
          <a:stretch/>
        </p:blipFill>
        <p:spPr>
          <a:xfrm>
            <a:off x="0" y="0"/>
            <a:ext cx="4064000" cy="6858000"/>
          </a:xfrm>
          <a:prstGeom prst="rect">
            <a:avLst/>
          </a:prstGeom>
        </p:spPr>
      </p:pic>
      <p:sp>
        <p:nvSpPr>
          <p:cNvPr id="3" name="Text 0"/>
          <p:cNvSpPr txBox="1"/>
          <p:nvPr/>
        </p:nvSpPr>
        <p:spPr>
          <a:xfrm>
            <a:off x="4572000" y="1905000"/>
            <a:ext cx="3556000" cy="39370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horario va de 20:00 a 02:00 y la transmisión principal parte a las 22:30. Los riders de los artistas, aunque lleguen después de ofertar, los paga el productor.</a:t>
            </a:r>
            <a:endParaRPr lang="en-US" sz="1400" dirty="0"/>
          </a:p>
          <a:p>
            <a:pPr indent="0" marL="0">
              <a:lnSpc>
                <a:spcPct val="130000"/>
              </a:lnSpc>
              <a:buNone/>
            </a:pPr>
            <a:endParaRPr lang="en-US" sz="1400" dirty="0"/>
          </a:p>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municipio puede cambiar el recinto con 15 días de aviso, y el precio es fijo.</a:t>
            </a:r>
            <a:endParaRPr lang="en-US" sz="1400" dirty="0"/>
          </a:p>
        </p:txBody>
      </p:sp>
      <p:sp>
        <p:nvSpPr>
          <p:cNvPr id="4" name="Shape 1"/>
          <p:cNvSpPr/>
          <p:nvPr/>
        </p:nvSpPr>
        <p:spPr>
          <a:xfrm>
            <a:off x="8509000" y="1905000"/>
            <a:ext cx="19050" cy="3302000"/>
          </a:xfrm>
          <a:prstGeom prst="rect">
            <a:avLst/>
          </a:prstGeom>
          <a:solidFill>
            <a:srgbClr val="1A1214"/>
          </a:solidFill>
          <a:ln w="12700">
            <a:solidFill>
              <a:srgbClr val="1A1214"/>
            </a:solidFill>
            <a:prstDash val="solid"/>
          </a:ln>
        </p:spPr>
      </p:sp>
      <p:sp>
        <p:nvSpPr>
          <p:cNvPr id="5" name="Shape 2"/>
          <p:cNvSpPr/>
          <p:nvPr/>
        </p:nvSpPr>
        <p:spPr>
          <a:xfrm>
            <a:off x="8788400" y="1905000"/>
            <a:ext cx="1905000" cy="381000"/>
          </a:xfrm>
          <a:prstGeom prst="rect">
            <a:avLst/>
          </a:prstGeom>
          <a:solidFill>
            <a:srgbClr val="8E1B3A"/>
          </a:solidFill>
          <a:ln w="12700">
            <a:solidFill>
              <a:srgbClr val="8E1B3A"/>
            </a:solidFill>
            <a:prstDash val="solid"/>
          </a:ln>
        </p:spPr>
      </p:sp>
      <p:sp>
        <p:nvSpPr>
          <p:cNvPr id="6" name="Text 3"/>
          <p:cNvSpPr txBox="1"/>
          <p:nvPr/>
        </p:nvSpPr>
        <p:spPr>
          <a:xfrm>
            <a:off x="8890000" y="1905000"/>
            <a:ext cx="1778000" cy="381000"/>
          </a:xfrm>
          <a:prstGeom prst="rect">
            <a:avLst/>
          </a:prstGeom>
          <a:noFill/>
          <a:ln/>
        </p:spPr>
        <p:txBody>
          <a:bodyPr wrap="square" lIns="0" tIns="0" rIns="0" bIns="0" rtlCol="0" anchor="ctr"/>
          <a:lstStyle/>
          <a:p>
            <a:pPr indent="0" marL="0">
              <a:buNone/>
            </a:pPr>
            <a:r>
              <a:rPr lang="en-US" sz="1600" b="1" dirty="0">
                <a:solidFill>
                  <a:srgbClr val="FAF7F5"/>
                </a:solidFill>
                <a:latin typeface="Arial" pitchFamily="34" charset="0"/>
                <a:ea typeface="Arial" pitchFamily="34" charset="-122"/>
                <a:cs typeface="Arial" pitchFamily="34" charset="-120"/>
              </a:rPr>
              <a:t>Puntos clave:</a:t>
            </a:r>
            <a:endParaRPr lang="en-US" sz="1600" dirty="0"/>
          </a:p>
        </p:txBody>
      </p:sp>
      <p:sp>
        <p:nvSpPr>
          <p:cNvPr id="7" name="Text 4"/>
          <p:cNvSpPr txBox="1"/>
          <p:nvPr/>
        </p:nvSpPr>
        <p:spPr>
          <a:xfrm>
            <a:off x="8788400" y="2476500"/>
            <a:ext cx="2794000" cy="3302000"/>
          </a:xfrm>
          <a:prstGeom prst="rect">
            <a:avLst/>
          </a:prstGeom>
          <a:noFill/>
          <a:ln/>
        </p:spPr>
        <p:txBody>
          <a:bodyPr wrap="square" lIns="0" tIns="0" rIns="0" bIns="0" rtlCol="0" anchor="t"/>
          <a:lstStyle/>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Canal con presencia nacional</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Equipos descritos por modelo</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Escenario sobre arena certificado</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Difusión y lanzamiento incluidos</a:t>
            </a:r>
            <a:endParaRPr lang="en-US" sz="1400" dirty="0"/>
          </a:p>
        </p:txBody>
      </p:sp>
      <p:sp>
        <p:nvSpPr>
          <p:cNvPr id="8" name="Text 5"/>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4</a:t>
            </a:r>
            <a:endParaRPr lang="en-US" sz="1200" dirty="0"/>
          </a:p>
        </p:txBody>
      </p:sp>
      <p:sp>
        <p:nvSpPr>
          <p:cNvPr id="9" name="Shape 6"/>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5"/>
        </a:solidFill>
      </p:bgPr>
    </p:bg>
    <p:spTree>
      <p:nvGrpSpPr>
        <p:cNvPr id="1" name=""/>
        <p:cNvGrpSpPr/>
        <p:nvPr/>
      </p:nvGrpSpPr>
      <p:grpSpPr>
        <a:xfrm>
          <a:off x="0" y="0"/>
          <a:ext cx="0" cy="0"/>
          <a:chOff x="0" y="0"/>
          <a:chExt cx="0" cy="0"/>
        </a:xfrm>
      </p:grpSpPr>
      <p:sp>
        <p:nvSpPr>
          <p:cNvPr id="2" name="Text 0"/>
          <p:cNvSpPr txBox="1"/>
          <p:nvPr/>
        </p:nvSpPr>
        <p:spPr>
          <a:xfrm>
            <a:off x="1016000" y="609600"/>
            <a:ext cx="8890000" cy="317500"/>
          </a:xfrm>
          <a:prstGeom prst="rect">
            <a:avLst/>
          </a:prstGeom>
          <a:noFill/>
          <a:ln/>
        </p:spPr>
        <p:txBody>
          <a:bodyPr wrap="square" lIns="0" tIns="0" rIns="0" bIns="0" rtlCol="0" anchor="t"/>
          <a:lstStyle/>
          <a:p>
            <a:pPr indent="0" marL="0">
              <a:buNone/>
            </a:pPr>
            <a:r>
              <a:rPr lang="en-US" sz="1600" b="1" dirty="0">
                <a:solidFill>
                  <a:srgbClr val="1A1214"/>
                </a:solidFill>
                <a:latin typeface="Arial" pitchFamily="34" charset="0"/>
                <a:ea typeface="Arial" pitchFamily="34" charset="-122"/>
                <a:cs typeface="Arial" pitchFamily="34" charset="-120"/>
              </a:rPr>
              <a:t>Cómo se evalúa: el 65% del puntaje es trayectoria</a:t>
            </a:r>
            <a:endParaRPr lang="en-US" sz="1600" dirty="0"/>
          </a:p>
        </p:txBody>
      </p:sp>
      <p:sp>
        <p:nvSpPr>
          <p:cNvPr id="3" name="Shape 1"/>
          <p:cNvSpPr/>
          <p:nvPr/>
        </p:nvSpPr>
        <p:spPr>
          <a:xfrm>
            <a:off x="3048000" y="2476500"/>
            <a:ext cx="64" cy="368300"/>
          </a:xfrm>
          <a:prstGeom prst="line">
            <a:avLst/>
          </a:prstGeom>
          <a:noFill/>
          <a:ln w="19050">
            <a:solidFill>
              <a:srgbClr val="9A9EA7"/>
            </a:solidFill>
            <a:prstDash val="solid"/>
            <a:tailEnd type="triangle"/>
          </a:ln>
        </p:spPr>
      </p:sp>
      <p:sp>
        <p:nvSpPr>
          <p:cNvPr id="4" name="Shape 2"/>
          <p:cNvSpPr/>
          <p:nvPr/>
        </p:nvSpPr>
        <p:spPr>
          <a:xfrm>
            <a:off x="2235200" y="3352800"/>
            <a:ext cx="254000" cy="76200"/>
          </a:xfrm>
          <a:prstGeom prst="line">
            <a:avLst/>
          </a:prstGeom>
          <a:noFill/>
          <a:ln w="19050">
            <a:solidFill>
              <a:srgbClr val="9A9EA7"/>
            </a:solidFill>
            <a:prstDash val="solid"/>
            <a:tailEnd type="triangle"/>
          </a:ln>
        </p:spPr>
      </p:sp>
      <p:sp>
        <p:nvSpPr>
          <p:cNvPr id="5" name="Shape 3"/>
          <p:cNvSpPr/>
          <p:nvPr/>
        </p:nvSpPr>
        <p:spPr>
          <a:xfrm flipH="1">
            <a:off x="3606800" y="3352800"/>
            <a:ext cx="254000" cy="76200"/>
          </a:xfrm>
          <a:prstGeom prst="line">
            <a:avLst/>
          </a:prstGeom>
          <a:noFill/>
          <a:ln w="19050">
            <a:solidFill>
              <a:srgbClr val="9A9EA7"/>
            </a:solidFill>
            <a:prstDash val="solid"/>
            <a:tailEnd type="triangle"/>
          </a:ln>
        </p:spPr>
      </p:sp>
      <p:sp>
        <p:nvSpPr>
          <p:cNvPr id="6" name="Shape 4"/>
          <p:cNvSpPr/>
          <p:nvPr/>
        </p:nvSpPr>
        <p:spPr>
          <a:xfrm>
            <a:off x="2476500" y="1333500"/>
            <a:ext cx="1143000" cy="1143000"/>
          </a:xfrm>
          <a:prstGeom prst="ellipse">
            <a:avLst/>
          </a:prstGeom>
          <a:solidFill>
            <a:srgbClr val="8E1B3A"/>
          </a:solidFill>
          <a:ln w="12700">
            <a:solidFill>
              <a:srgbClr val="8E1B3A"/>
            </a:solidFill>
            <a:prstDash val="solid"/>
          </a:ln>
        </p:spPr>
      </p:sp>
      <p:sp>
        <p:nvSpPr>
          <p:cNvPr id="7" name="Text 5"/>
          <p:cNvSpPr txBox="1"/>
          <p:nvPr/>
        </p:nvSpPr>
        <p:spPr>
          <a:xfrm>
            <a:off x="2476500" y="1333500"/>
            <a:ext cx="1143000" cy="1143000"/>
          </a:xfrm>
          <a:prstGeom prst="rect">
            <a:avLst/>
          </a:prstGeom>
          <a:noFill/>
          <a:ln/>
        </p:spPr>
        <p:txBody>
          <a:bodyPr wrap="square" lIns="0" tIns="0" rIns="0" bIns="0" rtlCol="0" anchor="ctr"/>
          <a:lstStyle/>
          <a:p>
            <a:pPr algn="ctr" indent="0" marL="0">
              <a:buNone/>
            </a:pPr>
            <a:r>
              <a:rPr lang="en-US" sz="1100" dirty="0">
                <a:solidFill>
                  <a:srgbClr val="FAF7F5"/>
                </a:solidFill>
                <a:latin typeface="Arial" pitchFamily="34" charset="0"/>
                <a:ea typeface="Arial" pitchFamily="34" charset="-122"/>
                <a:cs typeface="Arial" pitchFamily="34" charset="-120"/>
              </a:rPr>
              <a:t>Eventos 35%</a:t>
            </a:r>
            <a:endParaRPr lang="en-US" sz="1100" dirty="0"/>
          </a:p>
        </p:txBody>
      </p:sp>
      <p:sp>
        <p:nvSpPr>
          <p:cNvPr id="8" name="Shape 6"/>
          <p:cNvSpPr/>
          <p:nvPr/>
        </p:nvSpPr>
        <p:spPr>
          <a:xfrm>
            <a:off x="1143000" y="2540000"/>
            <a:ext cx="1143000" cy="1143000"/>
          </a:xfrm>
          <a:prstGeom prst="ellipse">
            <a:avLst/>
          </a:prstGeom>
          <a:solidFill>
            <a:srgbClr val="8E1B3A"/>
          </a:solidFill>
          <a:ln w="12700">
            <a:solidFill>
              <a:srgbClr val="8E1B3A"/>
            </a:solidFill>
            <a:prstDash val="solid"/>
          </a:ln>
        </p:spPr>
      </p:sp>
      <p:sp>
        <p:nvSpPr>
          <p:cNvPr id="9" name="Text 7"/>
          <p:cNvSpPr txBox="1"/>
          <p:nvPr/>
        </p:nvSpPr>
        <p:spPr>
          <a:xfrm>
            <a:off x="1143000" y="2540000"/>
            <a:ext cx="1143000" cy="1143000"/>
          </a:xfrm>
          <a:prstGeom prst="rect">
            <a:avLst/>
          </a:prstGeom>
          <a:noFill/>
          <a:ln/>
        </p:spPr>
        <p:txBody>
          <a:bodyPr wrap="square" lIns="0" tIns="0" rIns="0" bIns="0" rtlCol="0" anchor="ctr"/>
          <a:lstStyle/>
          <a:p>
            <a:pPr algn="ctr" indent="0" marL="0">
              <a:buNone/>
            </a:pPr>
            <a:r>
              <a:rPr lang="en-US" sz="1100" dirty="0">
                <a:solidFill>
                  <a:srgbClr val="FAF7F5"/>
                </a:solidFill>
                <a:latin typeface="Arial" pitchFamily="34" charset="0"/>
                <a:ea typeface="Arial" pitchFamily="34" charset="-122"/>
                <a:cs typeface="Arial" pitchFamily="34" charset="-120"/>
              </a:rPr>
              <a:t>Precio 20%</a:t>
            </a:r>
            <a:endParaRPr lang="en-US" sz="1100" dirty="0"/>
          </a:p>
        </p:txBody>
      </p:sp>
      <p:sp>
        <p:nvSpPr>
          <p:cNvPr id="10" name="Shape 8"/>
          <p:cNvSpPr/>
          <p:nvPr/>
        </p:nvSpPr>
        <p:spPr>
          <a:xfrm>
            <a:off x="3810000" y="2540000"/>
            <a:ext cx="1143000" cy="1143000"/>
          </a:xfrm>
          <a:prstGeom prst="ellipse">
            <a:avLst/>
          </a:prstGeom>
          <a:solidFill>
            <a:srgbClr val="8E1B3A"/>
          </a:solidFill>
          <a:ln w="12700">
            <a:solidFill>
              <a:srgbClr val="8E1B3A"/>
            </a:solidFill>
            <a:prstDash val="solid"/>
          </a:ln>
        </p:spPr>
      </p:sp>
      <p:sp>
        <p:nvSpPr>
          <p:cNvPr id="11" name="Text 9"/>
          <p:cNvSpPr txBox="1"/>
          <p:nvPr/>
        </p:nvSpPr>
        <p:spPr>
          <a:xfrm>
            <a:off x="3810000" y="2540000"/>
            <a:ext cx="1143000" cy="1143000"/>
          </a:xfrm>
          <a:prstGeom prst="rect">
            <a:avLst/>
          </a:prstGeom>
          <a:noFill/>
          <a:ln/>
        </p:spPr>
        <p:txBody>
          <a:bodyPr wrap="square" lIns="0" tIns="0" rIns="0" bIns="0" rtlCol="0" anchor="ctr"/>
          <a:lstStyle/>
          <a:p>
            <a:pPr algn="ctr" indent="0" marL="0">
              <a:buNone/>
            </a:pPr>
            <a:r>
              <a:rPr lang="en-US" sz="1100" dirty="0">
                <a:solidFill>
                  <a:srgbClr val="FAF7F5"/>
                </a:solidFill>
                <a:latin typeface="Arial" pitchFamily="34" charset="0"/>
                <a:ea typeface="Arial" pitchFamily="34" charset="-122"/>
                <a:cs typeface="Arial" pitchFamily="34" charset="-120"/>
              </a:rPr>
              <a:t>TV 30%</a:t>
            </a:r>
            <a:endParaRPr lang="en-US" sz="1100" dirty="0"/>
          </a:p>
        </p:txBody>
      </p:sp>
      <p:sp>
        <p:nvSpPr>
          <p:cNvPr id="12" name="Shape 10"/>
          <p:cNvSpPr/>
          <p:nvPr/>
        </p:nvSpPr>
        <p:spPr>
          <a:xfrm>
            <a:off x="2476500" y="2857500"/>
            <a:ext cx="1143000" cy="1143000"/>
          </a:xfrm>
          <a:prstGeom prst="ellipse">
            <a:avLst/>
          </a:prstGeom>
          <a:solidFill>
            <a:srgbClr val="1A1214"/>
          </a:solidFill>
          <a:ln w="12700">
            <a:solidFill>
              <a:srgbClr val="1A1214"/>
            </a:solidFill>
            <a:prstDash val="solid"/>
          </a:ln>
        </p:spPr>
      </p:sp>
      <p:sp>
        <p:nvSpPr>
          <p:cNvPr id="13" name="Text 11"/>
          <p:cNvSpPr txBox="1"/>
          <p:nvPr/>
        </p:nvSpPr>
        <p:spPr>
          <a:xfrm>
            <a:off x="2476500" y="2857500"/>
            <a:ext cx="1143000" cy="1143000"/>
          </a:xfrm>
          <a:prstGeom prst="rect">
            <a:avLst/>
          </a:prstGeom>
          <a:noFill/>
          <a:ln/>
        </p:spPr>
        <p:txBody>
          <a:bodyPr wrap="square" lIns="0" tIns="0" rIns="0" bIns="0" rtlCol="0" anchor="ctr"/>
          <a:lstStyle/>
          <a:p>
            <a:pPr algn="ctr" indent="0" marL="0">
              <a:buNone/>
            </a:pPr>
            <a:r>
              <a:rPr lang="en-US" sz="1100" dirty="0">
                <a:solidFill>
                  <a:srgbClr val="FAF7F5"/>
                </a:solidFill>
                <a:latin typeface="Arial" pitchFamily="34" charset="0"/>
                <a:ea typeface="Arial" pitchFamily="34" charset="-122"/>
                <a:cs typeface="Arial" pitchFamily="34" charset="-120"/>
              </a:rPr>
              <a:t>Puntaje final</a:t>
            </a:r>
            <a:endParaRPr lang="en-US" sz="1100" dirty="0"/>
          </a:p>
        </p:txBody>
      </p:sp>
      <p:sp>
        <p:nvSpPr>
          <p:cNvPr id="14" name="Shape 12"/>
          <p:cNvSpPr/>
          <p:nvPr/>
        </p:nvSpPr>
        <p:spPr>
          <a:xfrm>
            <a:off x="2286000" y="4254500"/>
            <a:ext cx="1524000" cy="406400"/>
          </a:xfrm>
          <a:prstGeom prst="rect">
            <a:avLst/>
          </a:prstGeom>
          <a:solidFill>
            <a:srgbClr val="1A1214"/>
          </a:solidFill>
          <a:ln w="12700">
            <a:solidFill>
              <a:srgbClr val="1A1214"/>
            </a:solidFill>
            <a:prstDash val="solid"/>
          </a:ln>
        </p:spPr>
      </p:sp>
      <p:sp>
        <p:nvSpPr>
          <p:cNvPr id="15" name="Text 13"/>
          <p:cNvSpPr txBox="1"/>
          <p:nvPr/>
        </p:nvSpPr>
        <p:spPr>
          <a:xfrm>
            <a:off x="2286000" y="4254500"/>
            <a:ext cx="1524000" cy="406400"/>
          </a:xfrm>
          <a:prstGeom prst="rect">
            <a:avLst/>
          </a:prstGeom>
          <a:noFill/>
          <a:ln/>
        </p:spPr>
        <p:txBody>
          <a:bodyPr wrap="square" lIns="0" tIns="0" rIns="0" bIns="0" rtlCol="0" anchor="ctr"/>
          <a:lstStyle/>
          <a:p>
            <a:pPr algn="ctr" indent="0" marL="0">
              <a:buNone/>
            </a:pPr>
            <a:r>
              <a:rPr lang="en-US" sz="1100" dirty="0">
                <a:solidFill>
                  <a:srgbClr val="FAF7F5"/>
                </a:solidFill>
                <a:latin typeface="Arial" pitchFamily="34" charset="0"/>
                <a:ea typeface="Arial" pitchFamily="34" charset="-122"/>
                <a:cs typeface="Arial" pitchFamily="34" charset="-120"/>
              </a:rPr>
              <a:t>Formales 15%</a:t>
            </a:r>
            <a:endParaRPr lang="en-US" sz="1100" dirty="0"/>
          </a:p>
        </p:txBody>
      </p:sp>
      <p:sp>
        <p:nvSpPr>
          <p:cNvPr id="16" name="Text 14"/>
          <p:cNvSpPr txBox="1"/>
          <p:nvPr/>
        </p:nvSpPr>
        <p:spPr>
          <a:xfrm>
            <a:off x="5969000" y="1270000"/>
            <a:ext cx="5461000" cy="4445000"/>
          </a:xfrm>
          <a:prstGeom prst="rect">
            <a:avLst/>
          </a:prstGeom>
          <a:noFill/>
          <a:ln/>
        </p:spPr>
        <p:txBody>
          <a:bodyPr wrap="square" lIns="0" tIns="0" rIns="0" bIns="0" rtlCol="0" anchor="t"/>
          <a:lstStyle/>
          <a:p>
            <a:pPr indent="0" marL="0">
              <a:lnSpc>
                <a:spcPct val="120000"/>
              </a:lnSpc>
              <a:buNone/>
            </a:pPr>
            <a:r>
              <a:rPr lang="en-US" sz="1400" b="1" dirty="0">
                <a:solidFill>
                  <a:srgbClr val="1A1214"/>
                </a:solidFill>
                <a:latin typeface="Arial" pitchFamily="34" charset="0"/>
                <a:ea typeface="Arial" pitchFamily="34" charset="-122"/>
                <a:cs typeface="Arial" pitchFamily="34" charset="-120"/>
              </a:rPr>
              <a:t>EVENTOS (35%): </a:t>
            </a:r>
            <a:pPr indent="0" marL="0">
              <a:lnSpc>
                <a:spcPct val="120000"/>
              </a:lnSpc>
              <a:spcAft>
                <a:spcPts val="1400"/>
              </a:spcAft>
              <a:buNone/>
            </a:pPr>
            <a:r>
              <a:rPr lang="en-US" sz="1400" dirty="0">
                <a:solidFill>
                  <a:srgbClr val="2F2528"/>
                </a:solidFill>
                <a:latin typeface="Arial" pitchFamily="34" charset="0"/>
                <a:ea typeface="Arial" pitchFamily="34" charset="-122"/>
                <a:cs typeface="Arial" pitchFamily="34" charset="-120"/>
              </a:rPr>
              <a:t>8 experiencias de dos o más jornadas desde 2016 dan 100 puntos.</a:t>
            </a:r>
            <a:endParaRPr lang="en-US" sz="1400" dirty="0"/>
          </a:p>
          <a:p>
            <a:pPr indent="0" marL="0">
              <a:lnSpc>
                <a:spcPct val="120000"/>
              </a:lnSpc>
              <a:buNone/>
            </a:pPr>
            <a:r>
              <a:rPr lang="en-US" sz="1400" b="1" dirty="0">
                <a:solidFill>
                  <a:srgbClr val="1A1214"/>
                </a:solidFill>
                <a:latin typeface="Arial" pitchFamily="34" charset="0"/>
                <a:ea typeface="Arial" pitchFamily="34" charset="-122"/>
                <a:cs typeface="Arial" pitchFamily="34" charset="-120"/>
              </a:rPr>
              <a:t>TV (30%): </a:t>
            </a:r>
            <a:pPr indent="0" marL="0">
              <a:lnSpc>
                <a:spcPct val="120000"/>
              </a:lnSpc>
              <a:spcAft>
                <a:spcPts val="1400"/>
              </a:spcAft>
              <a:buNone/>
            </a:pPr>
            <a:r>
              <a:rPr lang="en-US" sz="1400" dirty="0">
                <a:solidFill>
                  <a:srgbClr val="2F2528"/>
                </a:solidFill>
                <a:latin typeface="Arial" pitchFamily="34" charset="0"/>
                <a:ea typeface="Arial" pitchFamily="34" charset="-122"/>
                <a:cs typeface="Arial" pitchFamily="34" charset="-120"/>
              </a:rPr>
              <a:t>todo o nada: una transmisión nacional da 100 y ninguna, 0.</a:t>
            </a:r>
            <a:endParaRPr lang="en-US" sz="1400" dirty="0"/>
          </a:p>
          <a:p>
            <a:pPr indent="0" marL="0">
              <a:lnSpc>
                <a:spcPct val="120000"/>
              </a:lnSpc>
              <a:buNone/>
            </a:pPr>
            <a:r>
              <a:rPr lang="en-US" sz="1400" b="1" dirty="0">
                <a:solidFill>
                  <a:srgbClr val="1A1214"/>
                </a:solidFill>
                <a:latin typeface="Arial" pitchFamily="34" charset="0"/>
                <a:ea typeface="Arial" pitchFamily="34" charset="-122"/>
                <a:cs typeface="Arial" pitchFamily="34" charset="-120"/>
              </a:rPr>
              <a:t>PRECIO (20%): </a:t>
            </a:r>
            <a:pPr indent="0" marL="0">
              <a:lnSpc>
                <a:spcPct val="120000"/>
              </a:lnSpc>
              <a:spcAft>
                <a:spcPts val="1400"/>
              </a:spcAft>
              <a:buNone/>
            </a:pPr>
            <a:r>
              <a:rPr lang="en-US" sz="1400" dirty="0">
                <a:solidFill>
                  <a:srgbClr val="2F2528"/>
                </a:solidFill>
                <a:latin typeface="Arial" pitchFamily="34" charset="0"/>
                <a:ea typeface="Arial" pitchFamily="34" charset="-122"/>
                <a:cs typeface="Arial" pitchFamily="34" charset="-120"/>
              </a:rPr>
              <a:t>precio mínimo dividido por el ofertado.</a:t>
            </a:r>
            <a:endParaRPr lang="en-US" sz="1400" dirty="0"/>
          </a:p>
          <a:p>
            <a:pPr indent="0" marL="0">
              <a:lnSpc>
                <a:spcPct val="120000"/>
              </a:lnSpc>
              <a:buNone/>
            </a:pPr>
            <a:r>
              <a:rPr lang="en-US" sz="1400" b="1" dirty="0">
                <a:solidFill>
                  <a:srgbClr val="1A1214"/>
                </a:solidFill>
                <a:latin typeface="Arial" pitchFamily="34" charset="0"/>
                <a:ea typeface="Arial" pitchFamily="34" charset="-122"/>
                <a:cs typeface="Arial" pitchFamily="34" charset="-120"/>
              </a:rPr>
              <a:t>FORMALES (15%): </a:t>
            </a:r>
            <a:pPr indent="0" marL="0">
              <a:lnSpc>
                <a:spcPct val="120000"/>
              </a:lnSpc>
              <a:spcAft>
                <a:spcPts val="1400"/>
              </a:spcAft>
              <a:buNone/>
            </a:pPr>
            <a:r>
              <a:rPr lang="en-US" sz="1400" dirty="0">
                <a:solidFill>
                  <a:srgbClr val="2F2528"/>
                </a:solidFill>
                <a:latin typeface="Arial" pitchFamily="34" charset="0"/>
                <a:ea typeface="Arial" pitchFamily="34" charset="-122"/>
                <a:cs typeface="Arial" pitchFamily="34" charset="-120"/>
              </a:rPr>
              <a:t>antecedentes a tiempo, integridad y comportamiento, 5% cada uno.</a:t>
            </a:r>
            <a:endParaRPr lang="en-US" sz="1400" dirty="0"/>
          </a:p>
          <a:p>
            <a:pPr indent="0" marL="0">
              <a:lnSpc>
                <a:spcPct val="120000"/>
              </a:lnSpc>
              <a:buNone/>
            </a:pPr>
            <a:r>
              <a:rPr lang="en-US" sz="1200" b="1" dirty="0">
                <a:solidFill>
                  <a:srgbClr val="675A5D"/>
                </a:solidFill>
                <a:latin typeface="Arial" pitchFamily="34" charset="0"/>
                <a:ea typeface="Arial" pitchFamily="34" charset="-122"/>
                <a:cs typeface="Arial" pitchFamily="34" charset="-120"/>
              </a:rPr>
              <a:t>Fuente: </a:t>
            </a:r>
            <a:pPr indent="0" marL="0">
              <a:lnSpc>
                <a:spcPct val="120000"/>
              </a:lnSpc>
              <a:buNone/>
            </a:pPr>
            <a:r>
              <a:rPr lang="en-US" sz="1200" dirty="0">
                <a:solidFill>
                  <a:srgbClr val="675A5D"/>
                </a:solidFill>
                <a:latin typeface="Arial" pitchFamily="34" charset="0"/>
                <a:ea typeface="Arial" pitchFamily="34" charset="-122"/>
                <a:cs typeface="Arial" pitchFamily="34" charset="-120"/>
              </a:rPr>
              <a:t>Bases administrativas, punto 15.</a:t>
            </a:r>
            <a:endParaRPr lang="en-US" sz="1400" dirty="0"/>
          </a:p>
        </p:txBody>
      </p:sp>
      <p:sp>
        <p:nvSpPr>
          <p:cNvPr id="17" name="Text 15"/>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5</a:t>
            </a:r>
            <a:endParaRPr lang="en-US" sz="1200" dirty="0"/>
          </a:p>
        </p:txBody>
      </p:sp>
      <p:sp>
        <p:nvSpPr>
          <p:cNvPr id="18" name="Shape 16"/>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457200"/>
            <a:ext cx="3078480" cy="726440"/>
          </a:xfrm>
          <a:prstGeom prst="rect">
            <a:avLst/>
          </a:prstGeom>
          <a:solidFill>
            <a:srgbClr val="8E1B3A"/>
          </a:solidFill>
          <a:ln w="12700">
            <a:solidFill>
              <a:srgbClr val="8E1B3A"/>
            </a:solidFill>
            <a:prstDash val="solid"/>
          </a:ln>
        </p:spPr>
      </p:sp>
      <p:sp>
        <p:nvSpPr>
          <p:cNvPr id="3" name="Text 1"/>
          <p:cNvSpPr txBox="1"/>
          <p:nvPr/>
        </p:nvSpPr>
        <p:spPr>
          <a:xfrm>
            <a:off x="812800" y="457200"/>
            <a:ext cx="226568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Eje 2:</a:t>
            </a:r>
            <a:endParaRPr lang="en-US" sz="4400" dirty="0"/>
          </a:p>
        </p:txBody>
      </p:sp>
      <p:sp>
        <p:nvSpPr>
          <p:cNvPr id="4" name="Text 2"/>
          <p:cNvSpPr txBox="1"/>
          <p:nvPr/>
        </p:nvSpPr>
        <p:spPr>
          <a:xfrm>
            <a:off x="812800" y="1498600"/>
            <a:ext cx="10566400" cy="952500"/>
          </a:xfrm>
          <a:prstGeom prst="rect">
            <a:avLst/>
          </a:prstGeom>
          <a:noFill/>
          <a:ln/>
        </p:spPr>
        <p:txBody>
          <a:bodyPr wrap="square" lIns="0" tIns="0" rIns="0" bIns="0" rtlCol="0" anchor="t"/>
          <a:lstStyle/>
          <a:p>
            <a:pPr indent="0" marL="0">
              <a:buNone/>
            </a:pPr>
            <a:r>
              <a:rPr lang="en-US" sz="6400" b="1" dirty="0">
                <a:solidFill>
                  <a:srgbClr val="1A1214"/>
                </a:solidFill>
                <a:latin typeface="Arial" pitchFamily="34" charset="0"/>
                <a:ea typeface="Arial" pitchFamily="34" charset="-122"/>
                <a:cs typeface="Arial" pitchFamily="34" charset="-120"/>
              </a:rPr>
              <a:t>Un plazo de 29 días</a:t>
            </a:r>
            <a:endParaRPr lang="en-US" sz="6400" dirty="0"/>
          </a:p>
        </p:txBody>
      </p:sp>
      <p:sp>
        <p:nvSpPr>
          <p:cNvPr id="5" name="Text 3"/>
          <p:cNvSpPr txBox="1"/>
          <p:nvPr/>
        </p:nvSpPr>
        <p:spPr>
          <a:xfrm>
            <a:off x="1524000" y="2667000"/>
            <a:ext cx="8255000" cy="1397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Entre la adjudicación y la primera jornada hay 29 días, en plenas fiestas. Solo llega a tiempo quien ya tiene artistas, canal y equipos reservados.</a:t>
            </a:r>
            <a:endParaRPr lang="en-US" sz="2000" dirty="0"/>
          </a:p>
        </p:txBody>
      </p:sp>
      <p:sp>
        <p:nvSpPr>
          <p:cNvPr id="6" name="Text 4"/>
          <p:cNvSpPr txBox="1"/>
          <p:nvPr/>
        </p:nvSpPr>
        <p:spPr>
          <a:xfrm>
            <a:off x="15240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contrato puede firmarse hasta el 17-12 y el acta de inicio cae cerca del 21-12. El plano del recinto se entrega el 23-12 y la póliza, el 02-01.</a:t>
            </a:r>
            <a:endParaRPr lang="en-US" sz="1400" dirty="0"/>
          </a:p>
        </p:txBody>
      </p:sp>
      <p:sp>
        <p:nvSpPr>
          <p:cNvPr id="7" name="Text 5"/>
          <p:cNvSpPr txBox="1"/>
          <p:nvPr/>
        </p:nvSpPr>
        <p:spPr>
          <a:xfrm>
            <a:off x="61976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municipio tiene diez días hábiles para aprobar a los artistas: hasta el 06-01. El montaje es el 07-01 y el festival, el 08 y el 09.</a:t>
            </a:r>
            <a:endParaRPr lang="en-US" sz="1400" dirty="0"/>
          </a:p>
        </p:txBody>
      </p:sp>
      <p:sp>
        <p:nvSpPr>
          <p:cNvPr id="8" name="Text 6"/>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6</a:t>
            </a:r>
            <a:endParaRPr lang="en-US" sz="1200" dirty="0"/>
          </a:p>
        </p:txBody>
      </p:sp>
      <p:sp>
        <p:nvSpPr>
          <p:cNvPr id="9" name="Shape 7"/>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457200"/>
            <a:ext cx="4084320" cy="726440"/>
          </a:xfrm>
          <a:prstGeom prst="rect">
            <a:avLst/>
          </a:prstGeom>
          <a:solidFill>
            <a:srgbClr val="8E1B3A"/>
          </a:solidFill>
          <a:ln w="12700">
            <a:solidFill>
              <a:srgbClr val="8E1B3A"/>
            </a:solidFill>
            <a:prstDash val="solid"/>
          </a:ln>
        </p:spPr>
      </p:sp>
      <p:sp>
        <p:nvSpPr>
          <p:cNvPr id="3" name="Text 1"/>
          <p:cNvSpPr txBox="1"/>
          <p:nvPr/>
        </p:nvSpPr>
        <p:spPr>
          <a:xfrm>
            <a:off x="812800" y="457200"/>
            <a:ext cx="327152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Contexto:</a:t>
            </a:r>
            <a:endParaRPr lang="en-US" sz="4400" dirty="0"/>
          </a:p>
        </p:txBody>
      </p:sp>
      <p:sp>
        <p:nvSpPr>
          <p:cNvPr id="4" name="Text 2"/>
          <p:cNvSpPr txBox="1"/>
          <p:nvPr/>
        </p:nvSpPr>
        <p:spPr>
          <a:xfrm>
            <a:off x="812800" y="1498600"/>
            <a:ext cx="6858000" cy="952500"/>
          </a:xfrm>
          <a:prstGeom prst="rect">
            <a:avLst/>
          </a:prstGeom>
          <a:noFill/>
          <a:ln/>
        </p:spPr>
        <p:txBody>
          <a:bodyPr wrap="square" lIns="0" tIns="0" rIns="0" bIns="0" rtlCol="0" anchor="t"/>
          <a:lstStyle/>
          <a:p>
            <a:pPr indent="0" marL="0">
              <a:buNone/>
            </a:pPr>
            <a:r>
              <a:rPr lang="en-US" sz="6400" b="1" dirty="0">
                <a:solidFill>
                  <a:srgbClr val="1A1214"/>
                </a:solidFill>
                <a:latin typeface="Arial" pitchFamily="34" charset="0"/>
                <a:ea typeface="Arial" pitchFamily="34" charset="-122"/>
                <a:cs typeface="Arial" pitchFamily="34" charset="-120"/>
              </a:rPr>
              <a:t>La apuesta</a:t>
            </a:r>
            <a:endParaRPr lang="en-US" sz="6400" dirty="0"/>
          </a:p>
        </p:txBody>
      </p:sp>
      <p:sp>
        <p:nvSpPr>
          <p:cNvPr id="5" name="Text 3"/>
          <p:cNvSpPr txBox="1"/>
          <p:nvPr/>
        </p:nvSpPr>
        <p:spPr>
          <a:xfrm>
            <a:off x="812800" y="2984500"/>
            <a:ext cx="6604000" cy="2540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La alcaldesa presenta el festival como una herramienta de reactivación para el comercio y el turismo. “Queremos hoy día comenzar el verano en la comuna de La Serena”, afirmó.</a:t>
            </a:r>
            <a:endParaRPr lang="en-US" sz="2000" dirty="0"/>
          </a:p>
        </p:txBody>
      </p:sp>
      <p:pic>
        <p:nvPicPr>
          <p:cNvPr id="6" name="Image 0" descr="/tmp/claude-0/-home-user-PROYECTO/07a0451d-e16b-572f-ac98-458a87904e89/scratchpad/ppt/img/bn3.jpg">    </p:cNvPr>
          <p:cNvPicPr>
            <a:picLocks noChangeAspect="1"/>
          </p:cNvPicPr>
          <p:nvPr/>
        </p:nvPicPr>
        <p:blipFill>
          <a:blip r:embed="rId1"/>
          <a:srcRect l="0" r="0" t="0" b="0"/>
          <a:stretch/>
        </p:blipFill>
        <p:spPr>
          <a:xfrm>
            <a:off x="8001000" y="0"/>
            <a:ext cx="4191000" cy="6858000"/>
          </a:xfrm>
          <a:prstGeom prst="rect">
            <a:avLst/>
          </a:prstGeom>
        </p:spPr>
      </p:pic>
      <p:sp>
        <p:nvSpPr>
          <p:cNvPr id="7" name="Shape 4"/>
          <p:cNvSpPr/>
          <p:nvPr/>
        </p:nvSpPr>
        <p:spPr>
          <a:xfrm>
            <a:off x="8001000" y="5461000"/>
            <a:ext cx="1891284" cy="266700"/>
          </a:xfrm>
          <a:prstGeom prst="rect">
            <a:avLst/>
          </a:prstGeom>
          <a:solidFill>
            <a:srgbClr val="8E1B3A"/>
          </a:solidFill>
          <a:ln w="12700">
            <a:solidFill>
              <a:srgbClr val="8E1B3A"/>
            </a:solidFill>
            <a:prstDash val="solid"/>
          </a:ln>
        </p:spPr>
      </p:sp>
      <p:sp>
        <p:nvSpPr>
          <p:cNvPr id="8" name="Text 5"/>
          <p:cNvSpPr txBox="1"/>
          <p:nvPr/>
        </p:nvSpPr>
        <p:spPr>
          <a:xfrm>
            <a:off x="8077200" y="5461000"/>
            <a:ext cx="1815084" cy="266700"/>
          </a:xfrm>
          <a:prstGeom prst="rect">
            <a:avLst/>
          </a:prstGeom>
          <a:noFill/>
          <a:ln/>
        </p:spPr>
        <p:txBody>
          <a:bodyPr wrap="square" lIns="0" tIns="0" rIns="0" bIns="0" rtlCol="0" anchor="ctr"/>
          <a:lstStyle/>
          <a:p>
            <a:pPr indent="0" marL="0">
              <a:buNone/>
            </a:pPr>
            <a:r>
              <a:rPr lang="en-US" sz="1200" b="1" dirty="0">
                <a:solidFill>
                  <a:srgbClr val="FAF7F5"/>
                </a:solidFill>
                <a:latin typeface="Arial" pitchFamily="34" charset="0"/>
                <a:ea typeface="Arial" pitchFamily="34" charset="-122"/>
                <a:cs typeface="Arial" pitchFamily="34" charset="-120"/>
              </a:rPr>
              <a:t>Daniela Norambuena</a:t>
            </a:r>
            <a:endParaRPr lang="en-US" sz="1200" dirty="0"/>
          </a:p>
        </p:txBody>
      </p:sp>
      <p:sp>
        <p:nvSpPr>
          <p:cNvPr id="9" name="Shape 6"/>
          <p:cNvSpPr/>
          <p:nvPr/>
        </p:nvSpPr>
        <p:spPr>
          <a:xfrm>
            <a:off x="8001000" y="5727700"/>
            <a:ext cx="2034540" cy="266700"/>
          </a:xfrm>
          <a:prstGeom prst="rect">
            <a:avLst/>
          </a:prstGeom>
          <a:solidFill>
            <a:srgbClr val="FAF7F5"/>
          </a:solidFill>
          <a:ln w="12700">
            <a:solidFill>
              <a:srgbClr val="FAF7F5"/>
            </a:solidFill>
            <a:prstDash val="solid"/>
          </a:ln>
        </p:spPr>
      </p:sp>
      <p:sp>
        <p:nvSpPr>
          <p:cNvPr id="10" name="Text 7"/>
          <p:cNvSpPr txBox="1"/>
          <p:nvPr/>
        </p:nvSpPr>
        <p:spPr>
          <a:xfrm>
            <a:off x="8077200" y="5727700"/>
            <a:ext cx="1958340" cy="266700"/>
          </a:xfrm>
          <a:prstGeom prst="rect">
            <a:avLst/>
          </a:prstGeom>
          <a:noFill/>
          <a:ln/>
        </p:spPr>
        <p:txBody>
          <a:bodyPr wrap="square" lIns="0" tIns="0" rIns="0" bIns="0" rtlCol="0" anchor="ctr"/>
          <a:lstStyle/>
          <a:p>
            <a:pPr indent="0" marL="0">
              <a:buNone/>
            </a:pPr>
            <a:r>
              <a:rPr lang="en-US" sz="1200" dirty="0">
                <a:solidFill>
                  <a:srgbClr val="1A1214"/>
                </a:solidFill>
                <a:latin typeface="Arial" pitchFamily="34" charset="0"/>
                <a:ea typeface="Arial" pitchFamily="34" charset="-122"/>
                <a:cs typeface="Arial" pitchFamily="34" charset="-120"/>
              </a:rPr>
              <a:t>Alcaldesa de La Serena</a:t>
            </a:r>
            <a:endParaRPr lang="en-US" sz="1200" dirty="0"/>
          </a:p>
        </p:txBody>
      </p:sp>
      <p:sp>
        <p:nvSpPr>
          <p:cNvPr id="11" name="Text 8"/>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FAF7F5"/>
                </a:solidFill>
                <a:latin typeface="Arial" pitchFamily="34" charset="0"/>
                <a:ea typeface="Arial" pitchFamily="34" charset="-122"/>
                <a:cs typeface="Arial" pitchFamily="34" charset="-120"/>
              </a:rPr>
              <a:t>7</a:t>
            </a:r>
            <a:endParaRPr lang="en-US" sz="1200" dirty="0"/>
          </a:p>
        </p:txBody>
      </p:sp>
      <p:sp>
        <p:nvSpPr>
          <p:cNvPr id="12" name="Shape 9"/>
          <p:cNvSpPr/>
          <p:nvPr/>
        </p:nvSpPr>
        <p:spPr>
          <a:xfrm>
            <a:off x="11309350" y="6400800"/>
            <a:ext cx="19050" cy="457200"/>
          </a:xfrm>
          <a:prstGeom prst="rect">
            <a:avLst/>
          </a:prstGeom>
          <a:solidFill>
            <a:srgbClr val="FAF7F5"/>
          </a:solidFill>
          <a:ln w="12700">
            <a:solidFill>
              <a:srgbClr val="FAF7F5"/>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457200"/>
            <a:ext cx="3078480" cy="726440"/>
          </a:xfrm>
          <a:prstGeom prst="rect">
            <a:avLst/>
          </a:prstGeom>
          <a:solidFill>
            <a:srgbClr val="8E1B3A"/>
          </a:solidFill>
          <a:ln w="12700">
            <a:solidFill>
              <a:srgbClr val="8E1B3A"/>
            </a:solidFill>
            <a:prstDash val="solid"/>
          </a:ln>
        </p:spPr>
      </p:sp>
      <p:sp>
        <p:nvSpPr>
          <p:cNvPr id="3" name="Text 1"/>
          <p:cNvSpPr txBox="1"/>
          <p:nvPr/>
        </p:nvSpPr>
        <p:spPr>
          <a:xfrm>
            <a:off x="812800" y="457200"/>
            <a:ext cx="226568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Eje 3:</a:t>
            </a:r>
            <a:endParaRPr lang="en-US" sz="4400" dirty="0"/>
          </a:p>
        </p:txBody>
      </p:sp>
      <p:sp>
        <p:nvSpPr>
          <p:cNvPr id="4" name="Text 2"/>
          <p:cNvSpPr txBox="1"/>
          <p:nvPr/>
        </p:nvSpPr>
        <p:spPr>
          <a:xfrm>
            <a:off x="812800" y="1498600"/>
            <a:ext cx="10566400" cy="952500"/>
          </a:xfrm>
          <a:prstGeom prst="rect">
            <a:avLst/>
          </a:prstGeom>
          <a:noFill/>
          <a:ln/>
        </p:spPr>
        <p:txBody>
          <a:bodyPr wrap="square" lIns="0" tIns="0" rIns="0" bIns="0" rtlCol="0" anchor="t"/>
          <a:lstStyle/>
          <a:p>
            <a:pPr indent="0" marL="0">
              <a:buNone/>
            </a:pPr>
            <a:r>
              <a:rPr lang="en-US" sz="6400" b="1" dirty="0">
                <a:solidFill>
                  <a:srgbClr val="1A1214"/>
                </a:solidFill>
                <a:latin typeface="Arial" pitchFamily="34" charset="0"/>
                <a:ea typeface="Arial" pitchFamily="34" charset="-122"/>
                <a:cs typeface="Arial" pitchFamily="34" charset="-120"/>
              </a:rPr>
              <a:t>Señales de dirección</a:t>
            </a:r>
            <a:endParaRPr lang="en-US" sz="6400" dirty="0"/>
          </a:p>
        </p:txBody>
      </p:sp>
      <p:sp>
        <p:nvSpPr>
          <p:cNvPr id="5" name="Text 3"/>
          <p:cNvSpPr txBox="1"/>
          <p:nvPr/>
        </p:nvSpPr>
        <p:spPr>
          <a:xfrm>
            <a:off x="1524000" y="2667000"/>
            <a:ext cx="8255000" cy="1397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No hay prueba de que la licitación tenga un ganador elegido. Sí hay un diseño que deja la competencia en muy pocas productoras.</a:t>
            </a:r>
            <a:endParaRPr lang="en-US" sz="2000" dirty="0"/>
          </a:p>
        </p:txBody>
      </p:sp>
      <p:sp>
        <p:nvSpPr>
          <p:cNvPr id="6" name="Text 4"/>
          <p:cNvSpPr txBox="1"/>
          <p:nvPr/>
        </p:nvSpPr>
        <p:spPr>
          <a:xfrm>
            <a:off x="15240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Para participar se exige la carta de un canal abierto con presencia en más de la mitad del país. Si un canal firma con una sola productora, el resto queda fuera.</a:t>
            </a:r>
            <a:endParaRPr lang="en-US" sz="1400" dirty="0"/>
          </a:p>
        </p:txBody>
      </p:sp>
      <p:sp>
        <p:nvSpPr>
          <p:cNvPr id="7" name="Text 5"/>
          <p:cNvSpPr txBox="1"/>
          <p:nvPr/>
        </p:nvSpPr>
        <p:spPr>
          <a:xfrm>
            <a:off x="61976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escenario requiere un certificado del fabricante a nombre del oferente: solo lo tiene quien es dueño del material, no quien lo arrienda.</a:t>
            </a:r>
            <a:endParaRPr lang="en-US" sz="1400" dirty="0"/>
          </a:p>
        </p:txBody>
      </p:sp>
      <p:sp>
        <p:nvSpPr>
          <p:cNvPr id="8" name="Text 6"/>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8</a:t>
            </a:r>
            <a:endParaRPr lang="en-US" sz="1200" dirty="0"/>
          </a:p>
        </p:txBody>
      </p:sp>
      <p:sp>
        <p:nvSpPr>
          <p:cNvPr id="9" name="Shape 7"/>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5"/>
        </a:solidFill>
      </p:bgPr>
    </p:bg>
    <p:spTree>
      <p:nvGrpSpPr>
        <p:cNvPr id="1" name=""/>
        <p:cNvGrpSpPr/>
        <p:nvPr/>
      </p:nvGrpSpPr>
      <p:grpSpPr>
        <a:xfrm>
          <a:off x="0" y="0"/>
          <a:ext cx="0" cy="0"/>
          <a:chOff x="0" y="0"/>
          <a:chExt cx="0" cy="0"/>
        </a:xfrm>
      </p:grpSpPr>
      <p:pic>
        <p:nvPicPr>
          <p:cNvPr id="2" name="Image 0" descr="/tmp/claude-0/-home-user-PROYECTO/07a0451d-e16b-572f-ac98-458a87904e89/scratchpad/ppt/img/bn4.jpg">    </p:cNvPr>
          <p:cNvPicPr>
            <a:picLocks noChangeAspect="1"/>
          </p:cNvPicPr>
          <p:nvPr/>
        </p:nvPicPr>
        <p:blipFill>
          <a:blip r:embed="rId1"/>
          <a:srcRect l="0" r="0" t="0" b="0"/>
          <a:stretch/>
        </p:blipFill>
        <p:spPr>
          <a:xfrm>
            <a:off x="0" y="0"/>
            <a:ext cx="4064000" cy="6858000"/>
          </a:xfrm>
          <a:prstGeom prst="rect">
            <a:avLst/>
          </a:prstGeom>
        </p:spPr>
      </p:pic>
      <p:sp>
        <p:nvSpPr>
          <p:cNvPr id="3" name="Text 0"/>
          <p:cNvSpPr txBox="1"/>
          <p:nvPr/>
        </p:nvSpPr>
        <p:spPr>
          <a:xfrm>
            <a:off x="4572000" y="1905000"/>
            <a:ext cx="3556000" cy="39370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Las especificaciones nombran a una empresa, Stage Servicios, como referencia para la radiofrecuencia y no agregan «o equivalente». Es la que hizo ese trabajo en el Festival de Viña.</a:t>
            </a:r>
            <a:endParaRPr lang="en-US" sz="1400" dirty="0"/>
          </a:p>
          <a:p>
            <a:pPr indent="0" marL="0">
              <a:lnSpc>
                <a:spcPct val="130000"/>
              </a:lnSpc>
              <a:buNone/>
            </a:pPr>
            <a:endParaRPr lang="en-US" sz="1400" dirty="0"/>
          </a:p>
          <a:p>
            <a:pPr indent="0" marL="0">
              <a:lnSpc>
                <a:spcPct val="130000"/>
              </a:lnSpc>
              <a:buNone/>
            </a:pPr>
            <a:r>
              <a:rPr lang="en-US" sz="1400" dirty="0">
                <a:solidFill>
                  <a:srgbClr val="2F2528"/>
                </a:solidFill>
                <a:latin typeface="Arial" pitchFamily="34" charset="0"/>
                <a:ea typeface="Arial" pitchFamily="34" charset="-122"/>
                <a:cs typeface="Arial" pitchFamily="34" charset="-120"/>
              </a:rPr>
              <a:t>Los equipos se describen por marca y modelo, sin un criterio publicado de equivalencia.</a:t>
            </a:r>
            <a:endParaRPr lang="en-US" sz="1400" dirty="0"/>
          </a:p>
        </p:txBody>
      </p:sp>
      <p:sp>
        <p:nvSpPr>
          <p:cNvPr id="4" name="Shape 1"/>
          <p:cNvSpPr/>
          <p:nvPr/>
        </p:nvSpPr>
        <p:spPr>
          <a:xfrm>
            <a:off x="8509000" y="1905000"/>
            <a:ext cx="19050" cy="3302000"/>
          </a:xfrm>
          <a:prstGeom prst="rect">
            <a:avLst/>
          </a:prstGeom>
          <a:solidFill>
            <a:srgbClr val="1A1214"/>
          </a:solidFill>
          <a:ln w="12700">
            <a:solidFill>
              <a:srgbClr val="1A1214"/>
            </a:solidFill>
            <a:prstDash val="solid"/>
          </a:ln>
        </p:spPr>
      </p:sp>
      <p:sp>
        <p:nvSpPr>
          <p:cNvPr id="5" name="Shape 2"/>
          <p:cNvSpPr/>
          <p:nvPr/>
        </p:nvSpPr>
        <p:spPr>
          <a:xfrm>
            <a:off x="8788400" y="1905000"/>
            <a:ext cx="1905000" cy="381000"/>
          </a:xfrm>
          <a:prstGeom prst="rect">
            <a:avLst/>
          </a:prstGeom>
          <a:solidFill>
            <a:srgbClr val="8E1B3A"/>
          </a:solidFill>
          <a:ln w="12700">
            <a:solidFill>
              <a:srgbClr val="8E1B3A"/>
            </a:solidFill>
            <a:prstDash val="solid"/>
          </a:ln>
        </p:spPr>
      </p:sp>
      <p:sp>
        <p:nvSpPr>
          <p:cNvPr id="6" name="Text 3"/>
          <p:cNvSpPr txBox="1"/>
          <p:nvPr/>
        </p:nvSpPr>
        <p:spPr>
          <a:xfrm>
            <a:off x="8890000" y="1905000"/>
            <a:ext cx="1778000" cy="381000"/>
          </a:xfrm>
          <a:prstGeom prst="rect">
            <a:avLst/>
          </a:prstGeom>
          <a:noFill/>
          <a:ln/>
        </p:spPr>
        <p:txBody>
          <a:bodyPr wrap="square" lIns="0" tIns="0" rIns="0" bIns="0" rtlCol="0" anchor="ctr"/>
          <a:lstStyle/>
          <a:p>
            <a:pPr indent="0" marL="0">
              <a:buNone/>
            </a:pPr>
            <a:r>
              <a:rPr lang="en-US" sz="1600" b="1" dirty="0">
                <a:solidFill>
                  <a:srgbClr val="FAF7F5"/>
                </a:solidFill>
                <a:latin typeface="Arial" pitchFamily="34" charset="0"/>
                <a:ea typeface="Arial" pitchFamily="34" charset="-122"/>
                <a:cs typeface="Arial" pitchFamily="34" charset="-120"/>
              </a:rPr>
              <a:t>Puntos clave:</a:t>
            </a:r>
            <a:endParaRPr lang="en-US" sz="1600" dirty="0"/>
          </a:p>
        </p:txBody>
      </p:sp>
      <p:sp>
        <p:nvSpPr>
          <p:cNvPr id="7" name="Text 4"/>
          <p:cNvSpPr txBox="1"/>
          <p:nvPr/>
        </p:nvSpPr>
        <p:spPr>
          <a:xfrm>
            <a:off x="8788400" y="2476500"/>
            <a:ext cx="2794000" cy="3302000"/>
          </a:xfrm>
          <a:prstGeom prst="rect">
            <a:avLst/>
          </a:prstGeom>
          <a:noFill/>
          <a:ln/>
        </p:spPr>
        <p:txBody>
          <a:bodyPr wrap="square" lIns="0" tIns="0" rIns="0" bIns="0" rtlCol="0" anchor="t"/>
          <a:lstStyle/>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Carta de canal como llave</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TV vale 100 o 0 puntos</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Hay que ser dueño del escenario</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Empresa nombrada en las EETT</a:t>
            </a:r>
            <a:endParaRPr lang="en-US" sz="1400" dirty="0"/>
          </a:p>
        </p:txBody>
      </p:sp>
      <p:sp>
        <p:nvSpPr>
          <p:cNvPr id="8" name="Text 5"/>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9</a:t>
            </a:r>
            <a:endParaRPr lang="en-US" sz="1200" dirty="0"/>
          </a:p>
        </p:txBody>
      </p:sp>
      <p:sp>
        <p:nvSpPr>
          <p:cNvPr id="9" name="Shape 6"/>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457200"/>
            <a:ext cx="3078480" cy="726440"/>
          </a:xfrm>
          <a:prstGeom prst="rect">
            <a:avLst/>
          </a:prstGeom>
          <a:solidFill>
            <a:srgbClr val="8E1B3A"/>
          </a:solidFill>
          <a:ln w="12700">
            <a:solidFill>
              <a:srgbClr val="8E1B3A"/>
            </a:solidFill>
            <a:prstDash val="solid"/>
          </a:ln>
        </p:spPr>
      </p:sp>
      <p:sp>
        <p:nvSpPr>
          <p:cNvPr id="3" name="Text 1"/>
          <p:cNvSpPr txBox="1"/>
          <p:nvPr/>
        </p:nvSpPr>
        <p:spPr>
          <a:xfrm>
            <a:off x="812800" y="457200"/>
            <a:ext cx="226568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Eje 4:</a:t>
            </a:r>
            <a:endParaRPr lang="en-US" sz="4400" dirty="0"/>
          </a:p>
        </p:txBody>
      </p:sp>
      <p:sp>
        <p:nvSpPr>
          <p:cNvPr id="4" name="Text 2"/>
          <p:cNvSpPr txBox="1"/>
          <p:nvPr/>
        </p:nvSpPr>
        <p:spPr>
          <a:xfrm>
            <a:off x="812800" y="1498600"/>
            <a:ext cx="10566400" cy="952500"/>
          </a:xfrm>
          <a:prstGeom prst="rect">
            <a:avLst/>
          </a:prstGeom>
          <a:noFill/>
          <a:ln/>
        </p:spPr>
        <p:txBody>
          <a:bodyPr wrap="square" lIns="0" tIns="0" rIns="0" bIns="0" rtlCol="0" anchor="t"/>
          <a:lstStyle/>
          <a:p>
            <a:pPr indent="0" marL="0">
              <a:buNone/>
            </a:pPr>
            <a:r>
              <a:rPr lang="en-US" sz="6400" b="1" dirty="0">
                <a:solidFill>
                  <a:srgbClr val="1A1214"/>
                </a:solidFill>
                <a:latin typeface="Arial" pitchFamily="34" charset="0"/>
                <a:ea typeface="Arial" pitchFamily="34" charset="-122"/>
                <a:cs typeface="Arial" pitchFamily="34" charset="-120"/>
              </a:rPr>
              <a:t>Riesgos legales</a:t>
            </a:r>
            <a:endParaRPr lang="en-US" sz="6400" dirty="0"/>
          </a:p>
        </p:txBody>
      </p:sp>
      <p:sp>
        <p:nvSpPr>
          <p:cNvPr id="5" name="Text 3"/>
          <p:cNvSpPr txBox="1"/>
          <p:nvPr/>
        </p:nvSpPr>
        <p:spPr>
          <a:xfrm>
            <a:off x="1524000" y="2667000"/>
            <a:ext cx="8255000" cy="1397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Las bases se contradicen en puntos clave. Esas contradicciones dan a la comisión margen para excluir ofertas y son la base típica de un reclamo.</a:t>
            </a:r>
            <a:endParaRPr lang="en-US" sz="2000" dirty="0"/>
          </a:p>
        </p:txBody>
      </p:sp>
      <p:sp>
        <p:nvSpPr>
          <p:cNvPr id="6" name="Text 4"/>
          <p:cNvSpPr txBox="1"/>
          <p:nvPr/>
        </p:nvSpPr>
        <p:spPr>
          <a:xfrm>
            <a:off x="15240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Subcontratar: la ficha lo permite, el Formato 9 también y el punto 25 lo prohíbe salvo la TV, con término del contrato. Un festival no se hace sin subcontratar.</a:t>
            </a:r>
            <a:endParaRPr lang="en-US" sz="1400" dirty="0"/>
          </a:p>
        </p:txBody>
      </p:sp>
      <p:sp>
        <p:nvSpPr>
          <p:cNvPr id="7" name="Text 5"/>
          <p:cNvSpPr txBox="1"/>
          <p:nvPr/>
        </p:nvSpPr>
        <p:spPr>
          <a:xfrm>
            <a:off x="61976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Las EETT piden documentos que no están en la lista de la oferta, como el estudio de audio, la carta Gantt y el certificado del CNTV.</a:t>
            </a:r>
            <a:endParaRPr lang="en-US" sz="1400" dirty="0"/>
          </a:p>
        </p:txBody>
      </p:sp>
      <p:sp>
        <p:nvSpPr>
          <p:cNvPr id="8" name="Text 6"/>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10</a:t>
            </a:r>
            <a:endParaRPr lang="en-US" sz="1200" dirty="0"/>
          </a:p>
        </p:txBody>
      </p:sp>
      <p:sp>
        <p:nvSpPr>
          <p:cNvPr id="9" name="Shape 7"/>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5"/>
        </a:solidFill>
      </p:bgPr>
    </p:bg>
    <p:spTree>
      <p:nvGrpSpPr>
        <p:cNvPr id="1" name=""/>
        <p:cNvGrpSpPr/>
        <p:nvPr/>
      </p:nvGrpSpPr>
      <p:grpSpPr>
        <a:xfrm>
          <a:off x="0" y="0"/>
          <a:ext cx="0" cy="0"/>
          <a:chOff x="0" y="0"/>
          <a:chExt cx="0" cy="0"/>
        </a:xfrm>
      </p:grpSpPr>
      <p:pic>
        <p:nvPicPr>
          <p:cNvPr id="2" name="Image 0" descr="/tmp/claude-0/-home-user-PROYECTO/07a0451d-e16b-572f-ac98-458a87904e89/scratchpad/ppt/img/bn2.jpg">    </p:cNvPr>
          <p:cNvPicPr>
            <a:picLocks noChangeAspect="1"/>
          </p:cNvPicPr>
          <p:nvPr/>
        </p:nvPicPr>
        <p:blipFill>
          <a:blip r:embed="rId1"/>
          <a:srcRect l="0" r="0" t="0" b="0"/>
          <a:stretch/>
        </p:blipFill>
        <p:spPr>
          <a:xfrm>
            <a:off x="0" y="0"/>
            <a:ext cx="4064000" cy="6858000"/>
          </a:xfrm>
          <a:prstGeom prst="rect">
            <a:avLst/>
          </a:prstGeom>
        </p:spPr>
      </p:pic>
      <p:sp>
        <p:nvSpPr>
          <p:cNvPr id="3" name="Text 0"/>
          <p:cNvSpPr txBox="1"/>
          <p:nvPr/>
        </p:nvSpPr>
        <p:spPr>
          <a:xfrm>
            <a:off x="4572000" y="1905000"/>
            <a:ext cx="3556000" cy="39370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canal debe invitar a la alcaldesa a programas nacionales y matinales, y cubrir 12 actividades comunales en el año. Es un riesgo de probidad.</a:t>
            </a:r>
            <a:endParaRPr lang="en-US" sz="1400" dirty="0"/>
          </a:p>
          <a:p>
            <a:pPr indent="0" marL="0">
              <a:lnSpc>
                <a:spcPct val="130000"/>
              </a:lnSpc>
              <a:buNone/>
            </a:pPr>
            <a:endParaRPr lang="en-US" sz="1400" dirty="0"/>
          </a:p>
          <a:p>
            <a:pPr indent="0" marL="0">
              <a:lnSpc>
                <a:spcPct val="130000"/>
              </a:lnSpc>
              <a:buNone/>
            </a:pPr>
            <a:r>
              <a:rPr lang="en-US" sz="1400" dirty="0">
                <a:solidFill>
                  <a:srgbClr val="2F2528"/>
                </a:solidFill>
                <a:latin typeface="Arial" pitchFamily="34" charset="0"/>
                <a:ea typeface="Arial" pitchFamily="34" charset="-122"/>
                <a:cs typeface="Arial" pitchFamily="34" charset="-120"/>
              </a:rPr>
              <a:t>Hay texto copiado de bases de obras y de una concesión, además de cifras que no cuadran entre documentos.</a:t>
            </a:r>
            <a:endParaRPr lang="en-US" sz="1400" dirty="0"/>
          </a:p>
        </p:txBody>
      </p:sp>
      <p:sp>
        <p:nvSpPr>
          <p:cNvPr id="4" name="Shape 1"/>
          <p:cNvSpPr/>
          <p:nvPr/>
        </p:nvSpPr>
        <p:spPr>
          <a:xfrm>
            <a:off x="8509000" y="1905000"/>
            <a:ext cx="19050" cy="3302000"/>
          </a:xfrm>
          <a:prstGeom prst="rect">
            <a:avLst/>
          </a:prstGeom>
          <a:solidFill>
            <a:srgbClr val="1A1214"/>
          </a:solidFill>
          <a:ln w="12700">
            <a:solidFill>
              <a:srgbClr val="1A1214"/>
            </a:solidFill>
            <a:prstDash val="solid"/>
          </a:ln>
        </p:spPr>
      </p:sp>
      <p:sp>
        <p:nvSpPr>
          <p:cNvPr id="5" name="Shape 2"/>
          <p:cNvSpPr/>
          <p:nvPr/>
        </p:nvSpPr>
        <p:spPr>
          <a:xfrm>
            <a:off x="8788400" y="1905000"/>
            <a:ext cx="1905000" cy="381000"/>
          </a:xfrm>
          <a:prstGeom prst="rect">
            <a:avLst/>
          </a:prstGeom>
          <a:solidFill>
            <a:srgbClr val="8E1B3A"/>
          </a:solidFill>
          <a:ln w="12700">
            <a:solidFill>
              <a:srgbClr val="8E1B3A"/>
            </a:solidFill>
            <a:prstDash val="solid"/>
          </a:ln>
        </p:spPr>
      </p:sp>
      <p:sp>
        <p:nvSpPr>
          <p:cNvPr id="6" name="Text 3"/>
          <p:cNvSpPr txBox="1"/>
          <p:nvPr/>
        </p:nvSpPr>
        <p:spPr>
          <a:xfrm>
            <a:off x="8890000" y="1905000"/>
            <a:ext cx="1778000" cy="381000"/>
          </a:xfrm>
          <a:prstGeom prst="rect">
            <a:avLst/>
          </a:prstGeom>
          <a:noFill/>
          <a:ln/>
        </p:spPr>
        <p:txBody>
          <a:bodyPr wrap="square" lIns="0" tIns="0" rIns="0" bIns="0" rtlCol="0" anchor="ctr"/>
          <a:lstStyle/>
          <a:p>
            <a:pPr indent="0" marL="0">
              <a:buNone/>
            </a:pPr>
            <a:r>
              <a:rPr lang="en-US" sz="1600" b="1" dirty="0">
                <a:solidFill>
                  <a:srgbClr val="FAF7F5"/>
                </a:solidFill>
                <a:latin typeface="Arial" pitchFamily="34" charset="0"/>
                <a:ea typeface="Arial" pitchFamily="34" charset="-122"/>
                <a:cs typeface="Arial" pitchFamily="34" charset="-120"/>
              </a:rPr>
              <a:t>Puntos clave:</a:t>
            </a:r>
            <a:endParaRPr lang="en-US" sz="1600" dirty="0"/>
          </a:p>
        </p:txBody>
      </p:sp>
      <p:sp>
        <p:nvSpPr>
          <p:cNvPr id="7" name="Text 4"/>
          <p:cNvSpPr txBox="1"/>
          <p:nvPr/>
        </p:nvSpPr>
        <p:spPr>
          <a:xfrm>
            <a:off x="8788400" y="2476500"/>
            <a:ext cx="2794000" cy="3302000"/>
          </a:xfrm>
          <a:prstGeom prst="rect">
            <a:avLst/>
          </a:prstGeom>
          <a:noFill/>
          <a:ln/>
        </p:spPr>
        <p:txBody>
          <a:bodyPr wrap="square" lIns="0" tIns="0" rIns="0" bIns="0" rtlCol="0" anchor="t"/>
          <a:lstStyle/>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Subcontratar: tres reglas</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Documentos fuera de la lista</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Promoción de la autoridad</a:t>
            </a:r>
            <a:endParaRPr lang="en-US" sz="1400" dirty="0"/>
          </a:p>
          <a:p>
            <a:pPr marL="228600" indent="-228600">
              <a:lnSpc>
                <a:spcPct val="110000"/>
              </a:lnSpc>
              <a:spcAft>
                <a:spcPts val="800"/>
              </a:spcAft>
              <a:buSzPct val="100000"/>
              <a:buChar char="•"/>
            </a:pPr>
            <a:r>
              <a:rPr lang="en-US" sz="1400" dirty="0">
                <a:solidFill>
                  <a:srgbClr val="1A1214"/>
                </a:solidFill>
                <a:latin typeface="Arial" pitchFamily="34" charset="0"/>
                <a:ea typeface="Arial" pitchFamily="34" charset="-122"/>
                <a:cs typeface="Arial" pitchFamily="34" charset="-120"/>
              </a:rPr>
              <a:t>UTP con la puerta cerrada</a:t>
            </a:r>
            <a:endParaRPr lang="en-US" sz="1400" dirty="0"/>
          </a:p>
        </p:txBody>
      </p:sp>
      <p:sp>
        <p:nvSpPr>
          <p:cNvPr id="8" name="Text 5"/>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11</a:t>
            </a:r>
            <a:endParaRPr lang="en-US" sz="1200" dirty="0"/>
          </a:p>
        </p:txBody>
      </p:sp>
      <p:sp>
        <p:nvSpPr>
          <p:cNvPr id="9" name="Shape 6"/>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609600"/>
            <a:ext cx="5760720" cy="726440"/>
          </a:xfrm>
          <a:prstGeom prst="rect">
            <a:avLst/>
          </a:prstGeom>
          <a:solidFill>
            <a:srgbClr val="8E1B3A"/>
          </a:solidFill>
          <a:ln w="12700">
            <a:solidFill>
              <a:srgbClr val="8E1B3A"/>
            </a:solidFill>
            <a:prstDash val="solid"/>
          </a:ln>
        </p:spPr>
      </p:sp>
      <p:sp>
        <p:nvSpPr>
          <p:cNvPr id="3" name="Text 1"/>
          <p:cNvSpPr txBox="1"/>
          <p:nvPr/>
        </p:nvSpPr>
        <p:spPr>
          <a:xfrm>
            <a:off x="812800" y="609600"/>
            <a:ext cx="494792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Multas y pagos</a:t>
            </a:r>
            <a:endParaRPr lang="en-US" sz="4400" dirty="0"/>
          </a:p>
        </p:txBody>
      </p:sp>
      <p:pic>
        <p:nvPicPr>
          <p:cNvPr id="4" name="Image 0" descr="/tmp/claude-0/-home-user-PROYECTO/07a0451d-e16b-572f-ac98-458a87904e89/scratchpad/ppt/img/bn1.jpg">    </p:cNvPr>
          <p:cNvPicPr>
            <a:picLocks noChangeAspect="1"/>
          </p:cNvPicPr>
          <p:nvPr/>
        </p:nvPicPr>
        <p:blipFill>
          <a:blip r:embed="rId1"/>
          <a:srcRect l="0" r="0" t="0" b="0"/>
          <a:stretch/>
        </p:blipFill>
        <p:spPr>
          <a:xfrm>
            <a:off x="0" y="1625600"/>
            <a:ext cx="3937000" cy="2413000"/>
          </a:xfrm>
          <a:prstGeom prst="rect">
            <a:avLst/>
          </a:prstGeom>
        </p:spPr>
      </p:pic>
      <p:sp>
        <p:nvSpPr>
          <p:cNvPr id="5" name="Text 2"/>
          <p:cNvSpPr txBox="1"/>
          <p:nvPr/>
        </p:nvSpPr>
        <p:spPr>
          <a:xfrm>
            <a:off x="4368800" y="1625600"/>
            <a:ext cx="6350000" cy="2540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La multa mayor es de 500 UTM si falla la transmisión de TV. El total de multas no puede superar el 20% del contrato.</a:t>
            </a:r>
            <a:endParaRPr lang="en-US" sz="2000" dirty="0"/>
          </a:p>
        </p:txBody>
      </p:sp>
      <p:sp>
        <p:nvSpPr>
          <p:cNvPr id="6" name="Text 3"/>
          <p:cNvSpPr txBox="1"/>
          <p:nvPr/>
        </p:nvSpPr>
        <p:spPr>
          <a:xfrm>
            <a:off x="1524000" y="4381500"/>
            <a:ext cx="4343400" cy="1460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Una falla técnica cuesta 65 UTM, y un atraso en la carta Gantt, 50. La garantía de fiel cumplimiento es del 5% y la póliza de RC, de 3.000 UF.</a:t>
            </a:r>
            <a:endParaRPr lang="en-US" sz="1400" dirty="0"/>
          </a:p>
        </p:txBody>
      </p:sp>
      <p:sp>
        <p:nvSpPr>
          <p:cNvPr id="7" name="Text 4"/>
          <p:cNvSpPr txBox="1"/>
          <p:nvPr/>
        </p:nvSpPr>
        <p:spPr>
          <a:xfrm>
            <a:off x="6324600" y="4381500"/>
            <a:ext cx="4343400" cy="1460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El pago es uno solo, a 30 días de la recepción conforme. El municipio registra 203 reclamos por pagar fuera de plazo en los últimos doce meses.</a:t>
            </a:r>
            <a:endParaRPr lang="en-US" sz="1400" dirty="0"/>
          </a:p>
        </p:txBody>
      </p:sp>
      <p:sp>
        <p:nvSpPr>
          <p:cNvPr id="8" name="Text 5"/>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12</a:t>
            </a:r>
            <a:endParaRPr lang="en-US" sz="1200" dirty="0"/>
          </a:p>
        </p:txBody>
      </p:sp>
      <p:sp>
        <p:nvSpPr>
          <p:cNvPr id="9" name="Shape 6"/>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457200"/>
            <a:ext cx="3078480" cy="726440"/>
          </a:xfrm>
          <a:prstGeom prst="rect">
            <a:avLst/>
          </a:prstGeom>
          <a:solidFill>
            <a:srgbClr val="8E1B3A"/>
          </a:solidFill>
          <a:ln w="12700">
            <a:solidFill>
              <a:srgbClr val="8E1B3A"/>
            </a:solidFill>
            <a:prstDash val="solid"/>
          </a:ln>
        </p:spPr>
      </p:sp>
      <p:sp>
        <p:nvSpPr>
          <p:cNvPr id="3" name="Text 1"/>
          <p:cNvSpPr txBox="1"/>
          <p:nvPr/>
        </p:nvSpPr>
        <p:spPr>
          <a:xfrm>
            <a:off x="812800" y="457200"/>
            <a:ext cx="226568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Eje 5:</a:t>
            </a:r>
            <a:endParaRPr lang="en-US" sz="4400" dirty="0"/>
          </a:p>
        </p:txBody>
      </p:sp>
      <p:sp>
        <p:nvSpPr>
          <p:cNvPr id="4" name="Text 2"/>
          <p:cNvSpPr txBox="1"/>
          <p:nvPr/>
        </p:nvSpPr>
        <p:spPr>
          <a:xfrm>
            <a:off x="812800" y="1498600"/>
            <a:ext cx="10566400" cy="952500"/>
          </a:xfrm>
          <a:prstGeom prst="rect">
            <a:avLst/>
          </a:prstGeom>
          <a:noFill/>
          <a:ln/>
        </p:spPr>
        <p:txBody>
          <a:bodyPr wrap="square" lIns="0" tIns="0" rIns="0" bIns="0" rtlCol="0" anchor="t"/>
          <a:lstStyle/>
          <a:p>
            <a:pPr indent="0" marL="0">
              <a:buNone/>
            </a:pPr>
            <a:r>
              <a:rPr lang="en-US" sz="6400" b="1" dirty="0">
                <a:solidFill>
                  <a:srgbClr val="1A1214"/>
                </a:solidFill>
                <a:latin typeface="Arial" pitchFamily="34" charset="0"/>
                <a:ea typeface="Arial" pitchFamily="34" charset="-122"/>
                <a:cs typeface="Arial" pitchFamily="34" charset="-120"/>
              </a:rPr>
              <a:t>Lo que está en regla</a:t>
            </a:r>
            <a:endParaRPr lang="en-US" sz="6400" dirty="0"/>
          </a:p>
        </p:txBody>
      </p:sp>
      <p:sp>
        <p:nvSpPr>
          <p:cNvPr id="5" name="Text 3"/>
          <p:cNvSpPr txBox="1"/>
          <p:nvPr/>
        </p:nvSpPr>
        <p:spPr>
          <a:xfrm>
            <a:off x="1524000" y="2667000"/>
            <a:ext cx="8255000" cy="1397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El proceso cumple los mínimos formales: plazos, comisión, control del Concejo y reglas de puntaje publicadas.</a:t>
            </a:r>
            <a:endParaRPr lang="en-US" sz="2000" dirty="0"/>
          </a:p>
        </p:txBody>
      </p:sp>
      <p:sp>
        <p:nvSpPr>
          <p:cNvPr id="6" name="Text 4"/>
          <p:cNvSpPr txBox="1"/>
          <p:nvPr/>
        </p:nvSpPr>
        <p:spPr>
          <a:xfrm>
            <a:off x="15240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Hay 20 días corridos de publicación, el mínimo legal. La comisión la integran tres directivos, con declaración de conflictos y sujetos a la ley de lobby.</a:t>
            </a:r>
            <a:endParaRPr lang="en-US" sz="1400" dirty="0"/>
          </a:p>
        </p:txBody>
      </p:sp>
      <p:sp>
        <p:nvSpPr>
          <p:cNvPr id="7" name="Text 5"/>
          <p:cNvSpPr txBox="1"/>
          <p:nvPr/>
        </p:nvSpPr>
        <p:spPr>
          <a:xfrm>
            <a:off x="6197600" y="4254500"/>
            <a:ext cx="4216400" cy="15875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Las fórmulas, los desempates y el tope de precio son públicos. Las ofertas técnicas se publican tras la apertura.</a:t>
            </a:r>
            <a:endParaRPr lang="en-US" sz="1400" dirty="0"/>
          </a:p>
        </p:txBody>
      </p:sp>
      <p:sp>
        <p:nvSpPr>
          <p:cNvPr id="8" name="Text 6"/>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1A1214"/>
                </a:solidFill>
                <a:latin typeface="Arial" pitchFamily="34" charset="0"/>
                <a:ea typeface="Arial" pitchFamily="34" charset="-122"/>
                <a:cs typeface="Arial" pitchFamily="34" charset="-120"/>
              </a:rPr>
              <a:t>13</a:t>
            </a:r>
            <a:endParaRPr lang="en-US" sz="1200" dirty="0"/>
          </a:p>
        </p:txBody>
      </p:sp>
      <p:sp>
        <p:nvSpPr>
          <p:cNvPr id="9" name="Shape 7"/>
          <p:cNvSpPr/>
          <p:nvPr/>
        </p:nvSpPr>
        <p:spPr>
          <a:xfrm>
            <a:off x="11309350" y="6400800"/>
            <a:ext cx="19050" cy="457200"/>
          </a:xfrm>
          <a:prstGeom prst="rect">
            <a:avLst/>
          </a:prstGeom>
          <a:solidFill>
            <a:srgbClr val="1A1214"/>
          </a:solidFill>
          <a:ln w="12700">
            <a:solidFill>
              <a:srgbClr val="1A1214"/>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5"/>
        </a:solidFill>
      </p:bgPr>
    </p:bg>
    <p:spTree>
      <p:nvGrpSpPr>
        <p:cNvPr id="1" name=""/>
        <p:cNvGrpSpPr/>
        <p:nvPr/>
      </p:nvGrpSpPr>
      <p:grpSpPr>
        <a:xfrm>
          <a:off x="0" y="0"/>
          <a:ext cx="0" cy="0"/>
          <a:chOff x="0" y="0"/>
          <a:chExt cx="0" cy="0"/>
        </a:xfrm>
      </p:grpSpPr>
      <p:sp>
        <p:nvSpPr>
          <p:cNvPr id="2" name="Shape 0"/>
          <p:cNvSpPr/>
          <p:nvPr/>
        </p:nvSpPr>
        <p:spPr>
          <a:xfrm>
            <a:off x="0" y="762000"/>
            <a:ext cx="4084320" cy="726440"/>
          </a:xfrm>
          <a:prstGeom prst="rect">
            <a:avLst/>
          </a:prstGeom>
          <a:solidFill>
            <a:srgbClr val="8E1B3A"/>
          </a:solidFill>
          <a:ln w="12700">
            <a:solidFill>
              <a:srgbClr val="8E1B3A"/>
            </a:solidFill>
            <a:prstDash val="solid"/>
          </a:ln>
        </p:spPr>
      </p:sp>
      <p:sp>
        <p:nvSpPr>
          <p:cNvPr id="3" name="Text 1"/>
          <p:cNvSpPr txBox="1"/>
          <p:nvPr/>
        </p:nvSpPr>
        <p:spPr>
          <a:xfrm>
            <a:off x="812800" y="762000"/>
            <a:ext cx="3271520" cy="726440"/>
          </a:xfrm>
          <a:prstGeom prst="rect">
            <a:avLst/>
          </a:prstGeom>
          <a:noFill/>
          <a:ln/>
        </p:spPr>
        <p:txBody>
          <a:bodyPr wrap="square" lIns="0" tIns="0" rIns="0" bIns="0" rtlCol="0" anchor="ctr"/>
          <a:lstStyle/>
          <a:p>
            <a:pPr indent="0" marL="0">
              <a:buNone/>
            </a:pPr>
            <a:r>
              <a:rPr lang="en-US" sz="4400" b="1" dirty="0">
                <a:solidFill>
                  <a:srgbClr val="FAF7F5"/>
                </a:solidFill>
                <a:latin typeface="Arial" pitchFamily="34" charset="0"/>
                <a:ea typeface="Arial" pitchFamily="34" charset="-122"/>
                <a:cs typeface="Arial" pitchFamily="34" charset="-120"/>
              </a:rPr>
              <a:t>Veredicto</a:t>
            </a:r>
            <a:endParaRPr lang="en-US" sz="4400" dirty="0"/>
          </a:p>
        </p:txBody>
      </p:sp>
      <p:sp>
        <p:nvSpPr>
          <p:cNvPr id="4" name="Text 2"/>
          <p:cNvSpPr txBox="1"/>
          <p:nvPr/>
        </p:nvSpPr>
        <p:spPr>
          <a:xfrm>
            <a:off x="812800" y="1905000"/>
            <a:ext cx="6350000" cy="1524000"/>
          </a:xfrm>
          <a:prstGeom prst="rect">
            <a:avLst/>
          </a:prstGeom>
          <a:noFill/>
          <a:ln/>
        </p:spPr>
        <p:txBody>
          <a:bodyPr wrap="square" lIns="0" tIns="0" rIns="0" bIns="0" rtlCol="0" anchor="t"/>
          <a:lstStyle/>
          <a:p>
            <a:pPr indent="0" marL="0">
              <a:lnSpc>
                <a:spcPct val="115000"/>
              </a:lnSpc>
              <a:buNone/>
            </a:pPr>
            <a:r>
              <a:rPr lang="en-US" sz="2000" b="1" dirty="0">
                <a:solidFill>
                  <a:srgbClr val="1A1214"/>
                </a:solidFill>
                <a:latin typeface="Arial" pitchFamily="34" charset="0"/>
                <a:ea typeface="Arial" pitchFamily="34" charset="-122"/>
                <a:cs typeface="Arial" pitchFamily="34" charset="-120"/>
              </a:rPr>
              <a:t>La licitación no prueba un ganador elegido, pero reduce la competencia a quien ya tiene canal, escenario propio y artistas reservados.</a:t>
            </a:r>
            <a:endParaRPr lang="en-US" sz="2000" dirty="0"/>
          </a:p>
        </p:txBody>
      </p:sp>
      <p:sp>
        <p:nvSpPr>
          <p:cNvPr id="5" name="Text 3"/>
          <p:cNvSpPr txBox="1"/>
          <p:nvPr/>
        </p:nvSpPr>
        <p:spPr>
          <a:xfrm>
            <a:off x="812800" y="3556000"/>
            <a:ext cx="6350000" cy="2286000"/>
          </a:xfrm>
          <a:prstGeom prst="rect">
            <a:avLst/>
          </a:prstGeom>
          <a:noFill/>
          <a:ln/>
        </p:spPr>
        <p:txBody>
          <a:bodyPr wrap="square" lIns="0" tIns="0" rIns="0" bIns="0" rtlCol="0" anchor="t"/>
          <a:lstStyle/>
          <a:p>
            <a:pPr indent="0" marL="0">
              <a:lnSpc>
                <a:spcPct val="130000"/>
              </a:lnSpc>
              <a:buNone/>
            </a:pPr>
            <a:r>
              <a:rPr lang="en-US" sz="1400" dirty="0">
                <a:solidFill>
                  <a:srgbClr val="2F2528"/>
                </a:solidFill>
                <a:latin typeface="Arial" pitchFamily="34" charset="0"/>
                <a:ea typeface="Arial" pitchFamily="34" charset="-122"/>
                <a:cs typeface="Arial" pitchFamily="34" charset="-120"/>
              </a:rPr>
              <a:t>Las preguntas al foro vencen el miércoles 28-10 a las 15:00. Es el momento de pedir que se aclaren la subcontratación, la carta del canal y la lista de documentos.</a:t>
            </a:r>
            <a:endParaRPr lang="en-US" sz="1400" dirty="0"/>
          </a:p>
          <a:p>
            <a:pPr indent="0" marL="0">
              <a:lnSpc>
                <a:spcPct val="130000"/>
              </a:lnSpc>
              <a:buNone/>
            </a:pPr>
            <a:endParaRPr lang="en-US" sz="1400" dirty="0"/>
          </a:p>
          <a:p>
            <a:pPr indent="0" marL="0">
              <a:lnSpc>
                <a:spcPct val="130000"/>
              </a:lnSpc>
              <a:buNone/>
            </a:pPr>
            <a:r>
              <a:rPr lang="en-US" sz="1400" dirty="0">
                <a:solidFill>
                  <a:srgbClr val="2F2528"/>
                </a:solidFill>
                <a:latin typeface="Arial" pitchFamily="34" charset="0"/>
                <a:ea typeface="Arial" pitchFamily="34" charset="-122"/>
                <a:cs typeface="Arial" pitchFamily="34" charset="-120"/>
              </a:rPr>
              <a:t>En la apertura del 10-11 hay que mirar cuántas ofertas llegan, cuántas pasan la admisibilidad y quién obtiene 100 puntos en TV.</a:t>
            </a:r>
            <a:endParaRPr lang="en-US" sz="1400" dirty="0"/>
          </a:p>
        </p:txBody>
      </p:sp>
      <p:pic>
        <p:nvPicPr>
          <p:cNvPr id="6" name="Image 0" descr="/tmp/claude-0/-home-user-PROYECTO/07a0451d-e16b-572f-ac98-458a87904e89/scratchpad/ppt/img/bn4.jpg">    </p:cNvPr>
          <p:cNvPicPr>
            <a:picLocks noChangeAspect="1"/>
          </p:cNvPicPr>
          <p:nvPr/>
        </p:nvPicPr>
        <p:blipFill>
          <a:blip r:embed="rId1"/>
          <a:srcRect l="0" r="0" t="0" b="0"/>
          <a:stretch/>
        </p:blipFill>
        <p:spPr>
          <a:xfrm>
            <a:off x="7874000" y="0"/>
            <a:ext cx="4318000" cy="6858000"/>
          </a:xfrm>
          <a:prstGeom prst="rect">
            <a:avLst/>
          </a:prstGeom>
        </p:spPr>
      </p:pic>
      <p:sp>
        <p:nvSpPr>
          <p:cNvPr id="7" name="Text 4"/>
          <p:cNvSpPr txBox="1"/>
          <p:nvPr/>
        </p:nvSpPr>
        <p:spPr>
          <a:xfrm>
            <a:off x="10744200" y="6070600"/>
            <a:ext cx="635000" cy="228600"/>
          </a:xfrm>
          <a:prstGeom prst="rect">
            <a:avLst/>
          </a:prstGeom>
          <a:noFill/>
          <a:ln/>
        </p:spPr>
        <p:txBody>
          <a:bodyPr wrap="square" lIns="0" tIns="0" rIns="0" bIns="0" rtlCol="0" anchor="t"/>
          <a:lstStyle/>
          <a:p>
            <a:pPr algn="r" indent="0" marL="0">
              <a:buNone/>
            </a:pPr>
            <a:r>
              <a:rPr lang="en-US" sz="1200" b="1" dirty="0">
                <a:solidFill>
                  <a:srgbClr val="FAF7F5"/>
                </a:solidFill>
                <a:latin typeface="Arial" pitchFamily="34" charset="0"/>
                <a:ea typeface="Arial" pitchFamily="34" charset="-122"/>
                <a:cs typeface="Arial" pitchFamily="34" charset="-120"/>
              </a:rPr>
              <a:t>14</a:t>
            </a:r>
            <a:endParaRPr lang="en-US" sz="1200" dirty="0"/>
          </a:p>
        </p:txBody>
      </p:sp>
      <p:sp>
        <p:nvSpPr>
          <p:cNvPr id="8" name="Shape 5"/>
          <p:cNvSpPr/>
          <p:nvPr/>
        </p:nvSpPr>
        <p:spPr>
          <a:xfrm>
            <a:off x="11309350" y="6400800"/>
            <a:ext cx="19050" cy="457200"/>
          </a:xfrm>
          <a:prstGeom prst="rect">
            <a:avLst/>
          </a:prstGeom>
          <a:solidFill>
            <a:srgbClr val="FAF7F5"/>
          </a:solidFill>
          <a:ln w="12700">
            <a:solidFill>
              <a:srgbClr val="FAF7F5"/>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E1B3A"/>
        </a:solidFill>
      </p:bgPr>
    </p:bg>
    <p:spTree>
      <p:nvGrpSpPr>
        <p:cNvPr id="1" name=""/>
        <p:cNvGrpSpPr/>
        <p:nvPr/>
      </p:nvGrpSpPr>
      <p:grpSpPr>
        <a:xfrm>
          <a:off x="0" y="0"/>
          <a:ext cx="0" cy="0"/>
          <a:chOff x="0" y="0"/>
          <a:chExt cx="0" cy="0"/>
        </a:xfrm>
      </p:grpSpPr>
      <p:sp>
        <p:nvSpPr>
          <p:cNvPr id="2" name="Text 0"/>
          <p:cNvSpPr txBox="1"/>
          <p:nvPr/>
        </p:nvSpPr>
        <p:spPr>
          <a:xfrm>
            <a:off x="812800" y="609600"/>
            <a:ext cx="10160000" cy="698500"/>
          </a:xfrm>
          <a:prstGeom prst="rect">
            <a:avLst/>
          </a:prstGeom>
          <a:noFill/>
          <a:ln/>
        </p:spPr>
        <p:txBody>
          <a:bodyPr wrap="square" lIns="0" tIns="0" rIns="0" bIns="0" rtlCol="0" anchor="t"/>
          <a:lstStyle/>
          <a:p>
            <a:pPr indent="0" marL="0">
              <a:buNone/>
            </a:pPr>
            <a:r>
              <a:rPr lang="en-US" sz="4400" dirty="0">
                <a:solidFill>
                  <a:srgbClr val="FAF7F5"/>
                </a:solidFill>
                <a:latin typeface="Arial" pitchFamily="34" charset="0"/>
                <a:ea typeface="Arial" pitchFamily="34" charset="-122"/>
                <a:cs typeface="Arial" pitchFamily="34" charset="-120"/>
              </a:rPr>
              <a:t>mercadopublico.cl</a:t>
            </a:r>
            <a:endParaRPr lang="en-US" sz="4400" dirty="0"/>
          </a:p>
        </p:txBody>
      </p:sp>
      <p:sp>
        <p:nvSpPr>
          <p:cNvPr id="3" name="Text 1"/>
          <p:cNvSpPr txBox="1"/>
          <p:nvPr/>
        </p:nvSpPr>
        <p:spPr>
          <a:xfrm>
            <a:off x="812800" y="1460500"/>
            <a:ext cx="10160000" cy="317500"/>
          </a:xfrm>
          <a:prstGeom prst="rect">
            <a:avLst/>
          </a:prstGeom>
          <a:noFill/>
          <a:ln/>
        </p:spPr>
        <p:txBody>
          <a:bodyPr wrap="square" lIns="0" tIns="0" rIns="0" bIns="0" rtlCol="0" anchor="t"/>
          <a:lstStyle/>
          <a:p>
            <a:pPr indent="0" marL="0">
              <a:buNone/>
            </a:pPr>
            <a:r>
              <a:rPr lang="en-US" sz="1400" b="1" dirty="0">
                <a:solidFill>
                  <a:srgbClr val="FAF7F5"/>
                </a:solidFill>
                <a:latin typeface="Arial" pitchFamily="34" charset="0"/>
                <a:ea typeface="Arial" pitchFamily="34" charset="-122"/>
                <a:cs typeface="Arial" pitchFamily="34" charset="-120"/>
              </a:rPr>
              <a:t>Licitación ID 4295-91-LP26 · cierre el 10-11-2026</a:t>
            </a:r>
            <a:endParaRPr lang="en-US" sz="1400" dirty="0"/>
          </a:p>
        </p:txBody>
      </p:sp>
      <p:sp>
        <p:nvSpPr>
          <p:cNvPr id="4" name="Text 2"/>
          <p:cNvSpPr txBox="1"/>
          <p:nvPr/>
        </p:nvSpPr>
        <p:spPr>
          <a:xfrm>
            <a:off x="812800" y="5727700"/>
            <a:ext cx="5715000" cy="317500"/>
          </a:xfrm>
          <a:prstGeom prst="rect">
            <a:avLst/>
          </a:prstGeom>
          <a:noFill/>
          <a:ln/>
        </p:spPr>
        <p:txBody>
          <a:bodyPr wrap="square" lIns="0" tIns="0" rIns="0" bIns="0" rtlCol="0" anchor="t"/>
          <a:lstStyle/>
          <a:p>
            <a:pPr indent="0" marL="0">
              <a:buNone/>
            </a:pPr>
            <a:r>
              <a:rPr lang="en-US" sz="1600" b="1" dirty="0">
                <a:solidFill>
                  <a:srgbClr val="FAF7F5"/>
                </a:solidFill>
                <a:latin typeface="Arial" pitchFamily="34" charset="0"/>
                <a:ea typeface="Arial" pitchFamily="34" charset="-122"/>
                <a:cs typeface="Arial" pitchFamily="34" charset="-120"/>
              </a:rPr>
              <a:t>Análisis de bases</a:t>
            </a:r>
            <a:pPr indent="0" marL="0">
              <a:buNone/>
            </a:pPr>
            <a:r>
              <a:rPr lang="en-US" sz="1600" dirty="0">
                <a:solidFill>
                  <a:srgbClr val="FAF7F5"/>
                </a:solidFill>
                <a:latin typeface="Arial" pitchFamily="34" charset="0"/>
                <a:ea typeface="Arial" pitchFamily="34" charset="-122"/>
                <a:cs typeface="Arial" pitchFamily="34" charset="-120"/>
              </a:rPr>
              <a:t> · Octubre de 2026</a:t>
            </a:r>
            <a:endParaRPr lang="en-US" sz="1600" dirty="0"/>
          </a:p>
        </p:txBody>
      </p:sp>
      <p:sp>
        <p:nvSpPr>
          <p:cNvPr id="5" name="Shape 3"/>
          <p:cNvSpPr/>
          <p:nvPr/>
        </p:nvSpPr>
        <p:spPr>
          <a:xfrm>
            <a:off x="10266680" y="5740400"/>
            <a:ext cx="1112520" cy="304800"/>
          </a:xfrm>
          <a:prstGeom prst="rect">
            <a:avLst/>
          </a:prstGeom>
          <a:solidFill>
            <a:srgbClr val="FAF7F5"/>
          </a:solidFill>
          <a:ln w="12700">
            <a:solidFill>
              <a:srgbClr val="FAF7F5"/>
            </a:solidFill>
            <a:prstDash val="solid"/>
          </a:ln>
        </p:spPr>
      </p:sp>
      <p:sp>
        <p:nvSpPr>
          <p:cNvPr id="6" name="Text 4"/>
          <p:cNvSpPr txBox="1"/>
          <p:nvPr/>
        </p:nvSpPr>
        <p:spPr>
          <a:xfrm>
            <a:off x="10266680" y="5740400"/>
            <a:ext cx="1112520" cy="304800"/>
          </a:xfrm>
          <a:prstGeom prst="rect">
            <a:avLst/>
          </a:prstGeom>
          <a:noFill/>
          <a:ln/>
        </p:spPr>
        <p:txBody>
          <a:bodyPr wrap="square" lIns="0" tIns="0" rIns="0" bIns="0" rtlCol="0" anchor="ctr"/>
          <a:lstStyle/>
          <a:p>
            <a:pPr algn="ctr" indent="0" marL="0">
              <a:buNone/>
            </a:pPr>
            <a:r>
              <a:rPr lang="en-US" sz="1400" b="1" dirty="0">
                <a:solidFill>
                  <a:srgbClr val="1A1214"/>
                </a:solidFill>
                <a:latin typeface="Arial" pitchFamily="34" charset="0"/>
                <a:ea typeface="Arial" pitchFamily="34" charset="-122"/>
                <a:cs typeface="Arial" pitchFamily="34" charset="-120"/>
              </a:rPr>
              <a:t>y abierta</a:t>
            </a:r>
            <a:endParaRPr lang="en-US" sz="1400" dirty="0"/>
          </a:p>
        </p:txBody>
      </p:sp>
      <p:sp>
        <p:nvSpPr>
          <p:cNvPr id="7" name="Shape 5"/>
          <p:cNvSpPr/>
          <p:nvPr/>
        </p:nvSpPr>
        <p:spPr>
          <a:xfrm>
            <a:off x="9624060" y="5740400"/>
            <a:ext cx="579120" cy="304800"/>
          </a:xfrm>
          <a:prstGeom prst="rect">
            <a:avLst/>
          </a:prstGeom>
          <a:solidFill>
            <a:srgbClr val="FAF7F5"/>
          </a:solidFill>
          <a:ln w="12700">
            <a:solidFill>
              <a:srgbClr val="FAF7F5"/>
            </a:solidFill>
            <a:prstDash val="solid"/>
          </a:ln>
        </p:spPr>
      </p:sp>
      <p:sp>
        <p:nvSpPr>
          <p:cNvPr id="8" name="Text 6"/>
          <p:cNvSpPr txBox="1"/>
          <p:nvPr/>
        </p:nvSpPr>
        <p:spPr>
          <a:xfrm>
            <a:off x="9624060" y="5740400"/>
            <a:ext cx="579120" cy="304800"/>
          </a:xfrm>
          <a:prstGeom prst="rect">
            <a:avLst/>
          </a:prstGeom>
          <a:noFill/>
          <a:ln/>
        </p:spPr>
        <p:txBody>
          <a:bodyPr wrap="square" lIns="0" tIns="0" rIns="0" bIns="0" rtlCol="0" anchor="ctr"/>
          <a:lstStyle/>
          <a:p>
            <a:pPr algn="ctr" indent="0" marL="0">
              <a:buNone/>
            </a:pPr>
            <a:r>
              <a:rPr lang="en-US" sz="1400" b="1" dirty="0">
                <a:solidFill>
                  <a:srgbClr val="1A1214"/>
                </a:solidFill>
                <a:latin typeface="Arial" pitchFamily="34" charset="0"/>
                <a:ea typeface="Arial" pitchFamily="34" charset="-122"/>
                <a:cs typeface="Arial" pitchFamily="34" charset="-120"/>
              </a:rPr>
              <a:t>real</a:t>
            </a:r>
            <a:endParaRPr lang="en-US" sz="1400" dirty="0"/>
          </a:p>
        </p:txBody>
      </p:sp>
      <p:sp>
        <p:nvSpPr>
          <p:cNvPr id="9" name="Text 7"/>
          <p:cNvSpPr txBox="1"/>
          <p:nvPr/>
        </p:nvSpPr>
        <p:spPr>
          <a:xfrm>
            <a:off x="8387080" y="5740400"/>
            <a:ext cx="1173480" cy="304800"/>
          </a:xfrm>
          <a:prstGeom prst="rect">
            <a:avLst/>
          </a:prstGeom>
          <a:noFill/>
          <a:ln/>
        </p:spPr>
        <p:txBody>
          <a:bodyPr wrap="square" lIns="0" tIns="0" rIns="0" bIns="0" rtlCol="0" anchor="ctr"/>
          <a:lstStyle/>
          <a:p>
            <a:pPr algn="ctr" indent="0" marL="0">
              <a:buNone/>
            </a:pPr>
            <a:r>
              <a:rPr lang="en-US" sz="1400" b="1" dirty="0">
                <a:solidFill>
                  <a:srgbClr val="FAF7F5"/>
                </a:solidFill>
                <a:latin typeface="Arial" pitchFamily="34" charset="0"/>
                <a:ea typeface="Arial" pitchFamily="34" charset="-122"/>
                <a:cs typeface="Arial" pitchFamily="34" charset="-120"/>
              </a:rPr>
              <a:t>Competencia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Festival de La Serena 2027 · Análisis de bases</dc:title>
  <dc:subject>PptxGenJS Presentation</dc:subject>
  <dc:creator>PptxGenJS</dc:creator>
  <cp:lastModifiedBy>PptxGenJS</cp:lastModifiedBy>
  <cp:revision>1</cp:revision>
  <dcterms:created xsi:type="dcterms:W3CDTF">2026-10-24T23:43:06Z</dcterms:created>
  <dcterms:modified xsi:type="dcterms:W3CDTF">2026-10-24T23:43:06Z</dcterms:modified>
</cp:coreProperties>
</file>